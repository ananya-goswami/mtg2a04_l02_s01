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y="6858000" cx="12192000"/>
  <p:notesSz cx="6858000" cy="9144000"/>
  <p:embeddedFontLst>
    <p:embeddedFont>
      <p:font typeface="Noto Sans Devanagari"/>
      <p:regular r:id="rId23"/>
      <p:bold r:id="rId2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25" roundtripDataSignature="AMtx7mjmtsMzDM8UVQP2VohSCHF15F/GH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font" Target="fonts/NotoSansDevanagari-bold.fntdata"/><Relationship Id="rId23" Type="http://schemas.openxmlformats.org/officeDocument/2006/relationships/font" Target="fonts/NotoSansDevanagari-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p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10: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0" name="Shape 160"/>
        <p:cNvGrpSpPr/>
        <p:nvPr/>
      </p:nvGrpSpPr>
      <p:grpSpPr>
        <a:xfrm>
          <a:off x="0" y="0"/>
          <a:ext cx="0" cy="0"/>
          <a:chOff x="0" y="0"/>
          <a:chExt cx="0" cy="0"/>
        </a:xfrm>
      </p:grpSpPr>
      <p:sp>
        <p:nvSpPr>
          <p:cNvPr id="161" name="Google Shape;161;p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1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p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1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1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1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h17ada4ddaaa32a3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h17ada4ddaaa32a3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 name="Shape 209"/>
        <p:cNvGrpSpPr/>
        <p:nvPr/>
      </p:nvGrpSpPr>
      <p:grpSpPr>
        <a:xfrm>
          <a:off x="0" y="0"/>
          <a:ext cx="0" cy="0"/>
          <a:chOff x="0" y="0"/>
          <a:chExt cx="0" cy="0"/>
        </a:xfrm>
      </p:grpSpPr>
      <p:sp>
        <p:nvSpPr>
          <p:cNvPr id="210" name="Google Shape;210;p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2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2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2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2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2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2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2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2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2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2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2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2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2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2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2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2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2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26"/>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26"/>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26"/>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2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2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2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27"/>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27"/>
          <p:cNvSpPr/>
          <p:nvPr>
            <p:ph idx="2" type="pic"/>
          </p:nvPr>
        </p:nvSpPr>
        <p:spPr>
          <a:xfrm>
            <a:off x="1792288" y="612775"/>
            <a:ext cx="5486400" cy="4114800"/>
          </a:xfrm>
          <a:prstGeom prst="rect">
            <a:avLst/>
          </a:prstGeom>
          <a:noFill/>
          <a:ln>
            <a:noFill/>
          </a:ln>
        </p:spPr>
      </p:sp>
      <p:sp>
        <p:nvSpPr>
          <p:cNvPr id="64" name="Google Shape;64;p27"/>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2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2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2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28"/>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16.png"/><Relationship Id="rId5"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2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21.png"/><Relationship Id="rId5" Type="http://schemas.openxmlformats.org/officeDocument/2006/relationships/image" Target="../media/image1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2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2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nvSpPr>
        <p:spPr>
          <a:xfrm>
            <a:off x="731520" y="2377440"/>
            <a:ext cx="10728655" cy="201168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0" lang="en-US" sz="4000" u="none" cap="none" strike="noStrike">
                <a:solidFill>
                  <a:srgbClr val="0B3D8C"/>
                </a:solidFill>
                <a:latin typeface="Calibri"/>
                <a:ea typeface="Calibri"/>
                <a:cs typeface="Calibri"/>
                <a:sym typeface="Calibri"/>
              </a:rPr>
              <a:t>MTG2A04_L02_S01 — ब्लॉक से नापें!</a:t>
            </a:r>
            <a:endParaRPr/>
          </a:p>
          <a:p>
            <a:pPr indent="0" lvl="0" marL="0" marR="0" rtl="0" algn="ctr">
              <a:spcBef>
                <a:spcPts val="0"/>
              </a:spcBef>
              <a:spcAft>
                <a:spcPts val="0"/>
              </a:spcAft>
              <a:buNone/>
            </a:pPr>
            <a:r>
              <a:rPr b="0" i="0" lang="en-US" sz="1800" u="none" cap="none" strike="noStrike">
                <a:solidFill>
                  <a:srgbClr val="5A6678"/>
                </a:solidFill>
                <a:latin typeface="Calibri"/>
                <a:ea typeface="Calibri"/>
                <a:cs typeface="Calibri"/>
                <a:sym typeface="Calibri"/>
              </a:rPr>
              <a:t>Page-by-page review · 14 pages</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nvSpPr>
        <p:spPr>
          <a:xfrm>
            <a:off x="640080" y="457200"/>
            <a:ext cx="10911535" cy="8229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800" u="none" cap="none" strike="noStrike">
                <a:solidFill>
                  <a:srgbClr val="0B3D8C"/>
                </a:solidFill>
                <a:latin typeface="Calibri"/>
                <a:ea typeface="Calibri"/>
                <a:cs typeface="Calibri"/>
                <a:sym typeface="Calibri"/>
              </a:rPr>
              <a:t>Overall recommendations &amp; open questions</a:t>
            </a:r>
            <a:endParaRPr/>
          </a:p>
        </p:txBody>
      </p:sp>
      <p:sp>
        <p:nvSpPr>
          <p:cNvPr id="90" name="Google Shape;90;p2"/>
          <p:cNvSpPr txBox="1"/>
          <p:nvPr/>
        </p:nvSpPr>
        <p:spPr>
          <a:xfrm>
            <a:off x="822960" y="1463040"/>
            <a:ext cx="10545775" cy="493776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lang="en-US" sz="1700">
                <a:solidFill>
                  <a:srgbClr val="1B2A44"/>
                </a:solidFill>
                <a:latin typeface="Calibri"/>
                <a:ea typeface="Calibri"/>
                <a:cs typeface="Calibri"/>
                <a:sym typeface="Calibri"/>
              </a:rPr>
              <a:t>• {'skill': 'MTG2A04_L02_S01 — Measuring distances in non-standard units (Grade 2, A04 Measurement)', 'mastery_bar': 'Can measure lengths in non-standard units.', 'teaches': 'Lay a single, uniform non-standard unit (a block) end-to-end without gaps or overlaps, then count the units to get the length of an object.', 'mechanics': 'Teach: DEMO_COUNT (autonomous, a hand lays and counts a row of blocks). Test: MAKE_SET (produce — add blocks to match a target) + COUNT_HOW_MANY (pick — read a finished measurement back). Two gesture families, produce present, neither over ~55%.', 'distractor_design': 'COUNT_HOW_MANY options are the true count ±1 — the single most common non-standard-measurement error (a skipped or double-counted unit from a gap or overlap).', 'known_gap_flagged_for_dev': "No existing engine module lets a child slide one unit along a shown length with a visible target object beside it. Built the best approximation from the current catalog; a MEASURE_STRIP mechanic spec is written up in the build script's docstring and the bundle README for the dev team.", 'status_pending_before_sme_handoff': 'Real art (1 object: a wooden/toy unit block) and Hindi voice-over (41 clips) have NOT been generated yet — GEMINI_KEY is not available in this environment. Everything else (structure, interaction contracts, layout, Hindi copy/grammar, receipt-checkable items other than audio/art) has been verified. This deck is an early structural review; a second pass with real art + audio + the packaged dist is still required before this is truly SME-ready.', 'verifier_note': "verify_bundle.py's mechanic-variety heuristic WARNs 'pick dominates' on this build, but that's a false positive: its _TEACH exclusion list (INTRO/MEET_/*_INTRO/PHASE_) predates the DEMO_COUNT module added for the 3-phase contract, so it misclassifies the 3 autonomous teach slides as scored PICK tests. Excluding them, the real test-slide split is 4 produce / 5 pick (44%/56%), which passes the gate. Worth fixing verify_bundle.py's _TEACH tuple centrally rather than per-build."}</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 · 01_landing.png</a:t>
            </a:r>
            <a:endParaRPr/>
          </a:p>
        </p:txBody>
      </p:sp>
      <p:pic>
        <p:nvPicPr>
          <p:cNvPr descr="01_landing.png" id="96" name="Google Shape;96;p3"/>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97" name="Google Shape;97;p3"/>
          <p:cNvSpPr txBox="1"/>
          <p:nvPr/>
        </p:nvSpPr>
        <p:spPr>
          <a:xfrm>
            <a:off x="8229600" y="731520"/>
            <a:ext cx="3596400" cy="2447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B3D8C"/>
                </a:solidFill>
                <a:latin typeface="Calibri"/>
                <a:ea typeface="Calibri"/>
                <a:cs typeface="Calibri"/>
                <a:sym typeface="Calibri"/>
              </a:rPr>
              <a:t>Recommendations</a:t>
            </a:r>
            <a:endParaRPr/>
          </a:p>
          <a:p>
            <a:pPr indent="-285750" lvl="0" marL="285750" marR="0" rtl="0" algn="l">
              <a:spcBef>
                <a:spcPts val="0"/>
              </a:spcBef>
              <a:spcAft>
                <a:spcPts val="0"/>
              </a:spcAft>
              <a:buClr>
                <a:srgbClr val="1B2A44"/>
              </a:buClr>
              <a:buSzPts val="1300"/>
              <a:buFont typeface="Arial"/>
              <a:buChar char="•"/>
            </a:pPr>
            <a:r>
              <a:rPr lang="en-US" sz="1300">
                <a:solidFill>
                  <a:srgbClr val="1B2A44"/>
                </a:solidFill>
                <a:latin typeface="Calibri"/>
                <a:ea typeface="Calibri"/>
                <a:cs typeface="Calibri"/>
                <a:sym typeface="Calibri"/>
              </a:rPr>
              <a:t>Replace the heading text with “लंबाई मापना”</a:t>
            </a:r>
            <a:endParaRPr/>
          </a:p>
          <a:p>
            <a:pPr indent="-203200" lvl="0" marL="285750" marR="0" rtl="0" algn="l">
              <a:spcBef>
                <a:spcPts val="0"/>
              </a:spcBef>
              <a:spcAft>
                <a:spcPts val="0"/>
              </a:spcAft>
              <a:buClr>
                <a:schemeClr val="dk1"/>
              </a:buClr>
              <a:buSzPts val="1300"/>
              <a:buFont typeface="Arial"/>
              <a:buNone/>
            </a:pPr>
            <a:r>
              <a:t/>
            </a:r>
            <a:endParaRPr sz="1300">
              <a:solidFill>
                <a:srgbClr val="1B2A44"/>
              </a:solidFill>
              <a:latin typeface="Calibri"/>
              <a:ea typeface="Calibri"/>
              <a:cs typeface="Calibri"/>
              <a:sym typeface="Calibri"/>
            </a:endParaRPr>
          </a:p>
          <a:p>
            <a:pPr indent="-285750" lvl="0" marL="285750" marR="0" rtl="0" algn="l">
              <a:spcBef>
                <a:spcPts val="0"/>
              </a:spcBef>
              <a:spcAft>
                <a:spcPts val="0"/>
              </a:spcAft>
              <a:buClr>
                <a:srgbClr val="1B2A44"/>
              </a:buClr>
              <a:buSzPts val="1300"/>
              <a:buFont typeface="Arial"/>
              <a:buChar char="•"/>
            </a:pPr>
            <a:r>
              <a:rPr lang="en-US" sz="1300">
                <a:solidFill>
                  <a:srgbClr val="1B2A44"/>
                </a:solidFill>
                <a:latin typeface="Calibri"/>
                <a:ea typeface="Calibri"/>
                <a:cs typeface="Calibri"/>
                <a:sym typeface="Calibri"/>
              </a:rPr>
              <a:t>Play the VO:  </a:t>
            </a:r>
            <a:r>
              <a:rPr lang="en-US" sz="1400">
                <a:solidFill>
                  <a:schemeClr val="dk1"/>
                </a:solidFill>
                <a:latin typeface="Calibri"/>
                <a:ea typeface="Calibri"/>
                <a:cs typeface="Calibri"/>
                <a:sym typeface="Calibri"/>
              </a:rPr>
              <a:t>नमस्ते दोस्त! मैं हूँ स्विफ्टी। आज हम सीखेंगे - किसी चीज की लंबाई कैसे मापते हैं।</a:t>
            </a:r>
            <a:endParaRPr/>
          </a:p>
          <a:p>
            <a:pPr indent="-196850" lvl="0" marL="285750" marR="0" rtl="0" algn="l">
              <a:spcBef>
                <a:spcPts val="0"/>
              </a:spcBef>
              <a:spcAft>
                <a:spcPts val="0"/>
              </a:spcAft>
              <a:buClr>
                <a:schemeClr val="dk1"/>
              </a:buClr>
              <a:buSzPts val="1400"/>
              <a:buFont typeface="Arial"/>
              <a:buNone/>
            </a:pPr>
            <a:r>
              <a:t/>
            </a:r>
            <a:endParaRPr sz="1400">
              <a:solidFill>
                <a:srgbClr val="1B2A44"/>
              </a:solidFill>
              <a:latin typeface="Calibri"/>
              <a:ea typeface="Calibri"/>
              <a:cs typeface="Calibri"/>
              <a:sym typeface="Calibri"/>
            </a:endParaRPr>
          </a:p>
          <a:p>
            <a:pPr indent="-285750" lvl="0" marL="285750" marR="0" rtl="0" algn="l">
              <a:spcBef>
                <a:spcPts val="0"/>
              </a:spcBef>
              <a:spcAft>
                <a:spcPts val="0"/>
              </a:spcAft>
              <a:buClr>
                <a:srgbClr val="1B2A44"/>
              </a:buClr>
              <a:buSzPts val="1400"/>
              <a:buFont typeface="Arial"/>
              <a:buChar char="•"/>
            </a:pPr>
            <a:r>
              <a:rPr lang="en-US" sz="1400">
                <a:solidFill>
                  <a:srgbClr val="1B2A44"/>
                </a:solidFill>
                <a:latin typeface="Calibri"/>
                <a:ea typeface="Calibri"/>
                <a:cs typeface="Calibri"/>
                <a:sym typeface="Calibri"/>
              </a:rPr>
              <a:t>Visuals: Just for reference. </a:t>
            </a:r>
            <a:r>
              <a:rPr lang="en-US" sz="1400">
                <a:solidFill>
                  <a:schemeClr val="dk1"/>
                </a:solidFill>
                <a:latin typeface="Calibri"/>
                <a:ea typeface="Calibri"/>
                <a:cs typeface="Calibri"/>
                <a:sym typeface="Calibri"/>
              </a:rPr>
              <a:t>Show an animation – Blocks (</a:t>
            </a:r>
            <a:r>
              <a:rPr b="1" lang="en-US" sz="1400">
                <a:solidFill>
                  <a:srgbClr val="FF0000"/>
                </a:solidFill>
                <a:latin typeface="Calibri"/>
                <a:ea typeface="Calibri"/>
                <a:cs typeface="Calibri"/>
                <a:sym typeface="Calibri"/>
              </a:rPr>
              <a:t>cube</a:t>
            </a:r>
            <a:r>
              <a:rPr lang="en-US" sz="1400">
                <a:solidFill>
                  <a:schemeClr val="dk1"/>
                </a:solidFill>
                <a:latin typeface="Calibri"/>
                <a:ea typeface="Calibri"/>
                <a:cs typeface="Calibri"/>
                <a:sym typeface="Calibri"/>
              </a:rPr>
              <a:t>) appear one by one.</a:t>
            </a:r>
            <a:endParaRPr sz="1400">
              <a:solidFill>
                <a:schemeClr val="dk1"/>
              </a:solidFill>
              <a:latin typeface="Calibri"/>
              <a:ea typeface="Calibri"/>
              <a:cs typeface="Calibri"/>
              <a:sym typeface="Calibri"/>
            </a:endParaRPr>
          </a:p>
          <a:p>
            <a:pPr indent="-203200" lvl="0" marL="285750" marR="0" rtl="0" algn="l">
              <a:spcBef>
                <a:spcPts val="0"/>
              </a:spcBef>
              <a:spcAft>
                <a:spcPts val="0"/>
              </a:spcAft>
              <a:buClr>
                <a:schemeClr val="dk1"/>
              </a:buClr>
              <a:buSzPts val="1300"/>
              <a:buFont typeface="Arial"/>
              <a:buNone/>
            </a:pPr>
            <a:r>
              <a:rPr lang="en-US" sz="1300">
                <a:solidFill>
                  <a:srgbClr val="1B2A44"/>
                </a:solidFill>
                <a:latin typeface="Calibri"/>
                <a:ea typeface="Calibri"/>
                <a:cs typeface="Calibri"/>
                <a:sym typeface="Calibri"/>
              </a:rPr>
              <a:t>only reference image:</a:t>
            </a:r>
            <a:endParaRPr sz="1300">
              <a:solidFill>
                <a:srgbClr val="1B2A44"/>
              </a:solidFill>
              <a:latin typeface="Calibri"/>
              <a:ea typeface="Calibri"/>
              <a:cs typeface="Calibri"/>
              <a:sym typeface="Calibri"/>
            </a:endParaRPr>
          </a:p>
        </p:txBody>
      </p:sp>
      <p:grpSp>
        <p:nvGrpSpPr>
          <p:cNvPr id="98" name="Google Shape;98;p3"/>
          <p:cNvGrpSpPr/>
          <p:nvPr/>
        </p:nvGrpSpPr>
        <p:grpSpPr>
          <a:xfrm>
            <a:off x="8422003" y="3228572"/>
            <a:ext cx="3404007" cy="959463"/>
            <a:chOff x="8325763" y="2767667"/>
            <a:chExt cx="3404007" cy="959463"/>
          </a:xfrm>
        </p:grpSpPr>
        <p:pic>
          <p:nvPicPr>
            <p:cNvPr descr="A pencil on a wall&#10;&#10;AI-generated content may be incorrect." id="99" name="Google Shape;99;p3"/>
            <p:cNvPicPr preferRelativeResize="0"/>
            <p:nvPr/>
          </p:nvPicPr>
          <p:blipFill rotWithShape="1">
            <a:blip r:embed="rId4">
              <a:alphaModFix/>
            </a:blip>
            <a:srcRect b="20800" l="0" r="0" t="36920"/>
            <a:stretch/>
          </p:blipFill>
          <p:spPr>
            <a:xfrm>
              <a:off x="8325763" y="2767667"/>
              <a:ext cx="3404007" cy="959463"/>
            </a:xfrm>
            <a:prstGeom prst="rect">
              <a:avLst/>
            </a:prstGeom>
            <a:noFill/>
            <a:ln>
              <a:noFill/>
            </a:ln>
          </p:spPr>
        </p:pic>
        <p:cxnSp>
          <p:nvCxnSpPr>
            <p:cNvPr id="100" name="Google Shape;100;p3"/>
            <p:cNvCxnSpPr/>
            <p:nvPr/>
          </p:nvCxnSpPr>
          <p:spPr>
            <a:xfrm>
              <a:off x="8595360" y="3118104"/>
              <a:ext cx="0" cy="493776"/>
            </a:xfrm>
            <a:prstGeom prst="straightConnector1">
              <a:avLst/>
            </a:prstGeom>
            <a:noFill/>
            <a:ln cap="flat" cmpd="sng" w="25400">
              <a:solidFill>
                <a:srgbClr val="C00000"/>
              </a:solidFill>
              <a:prstDash val="dash"/>
              <a:round/>
              <a:headEnd len="sm" w="sm" type="none"/>
              <a:tailEnd len="sm" w="sm" type="none"/>
            </a:ln>
            <a:effectLst>
              <a:outerShdw blurRad="40000" rotWithShape="0" dir="5400000" dist="20000">
                <a:srgbClr val="000000">
                  <a:alpha val="38039"/>
                </a:srgbClr>
              </a:outerShdw>
            </a:effectLst>
          </p:spPr>
        </p:cxnSp>
        <p:cxnSp>
          <p:nvCxnSpPr>
            <p:cNvPr id="101" name="Google Shape;101;p3"/>
            <p:cNvCxnSpPr/>
            <p:nvPr/>
          </p:nvCxnSpPr>
          <p:spPr>
            <a:xfrm>
              <a:off x="11436096" y="3124200"/>
              <a:ext cx="0" cy="493776"/>
            </a:xfrm>
            <a:prstGeom prst="straightConnector1">
              <a:avLst/>
            </a:prstGeom>
            <a:noFill/>
            <a:ln cap="flat" cmpd="sng" w="25400">
              <a:solidFill>
                <a:srgbClr val="C00000"/>
              </a:solidFill>
              <a:prstDash val="dash"/>
              <a:round/>
              <a:headEnd len="sm" w="sm" type="none"/>
              <a:tailEnd len="sm" w="sm" type="none"/>
            </a:ln>
            <a:effectLst>
              <a:outerShdw blurRad="40000" rotWithShape="0" dir="5400000" dist="20000">
                <a:srgbClr val="000000">
                  <a:alpha val="38039"/>
                </a:srgbClr>
              </a:outerShdw>
            </a:effectLst>
          </p:spPr>
        </p:cxn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4"/>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2 · 02_DEMO_COUNT.png</a:t>
            </a:r>
            <a:endParaRPr/>
          </a:p>
        </p:txBody>
      </p:sp>
      <p:pic>
        <p:nvPicPr>
          <p:cNvPr descr="02_DEMO_COUNT.png" id="107" name="Google Shape;107;p4"/>
          <p:cNvPicPr preferRelativeResize="0"/>
          <p:nvPr/>
        </p:nvPicPr>
        <p:blipFill rotWithShape="1">
          <a:blip r:embed="rId3">
            <a:alphaModFix/>
          </a:blip>
          <a:srcRect b="0" l="0" r="0" t="0"/>
          <a:stretch/>
        </p:blipFill>
        <p:spPr>
          <a:xfrm>
            <a:off x="365760" y="449772"/>
            <a:ext cx="6303820" cy="3527868"/>
          </a:xfrm>
          <a:prstGeom prst="rect">
            <a:avLst/>
          </a:prstGeom>
          <a:noFill/>
          <a:ln>
            <a:noFill/>
          </a:ln>
        </p:spPr>
      </p:pic>
      <p:sp>
        <p:nvSpPr>
          <p:cNvPr id="108" name="Google Shape;108;p4"/>
          <p:cNvSpPr txBox="1"/>
          <p:nvPr/>
        </p:nvSpPr>
        <p:spPr>
          <a:xfrm>
            <a:off x="8229600" y="731520"/>
            <a:ext cx="3596335" cy="2215991"/>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B3D8C"/>
                </a:solidFill>
                <a:latin typeface="Calibri"/>
                <a:ea typeface="Calibri"/>
                <a:cs typeface="Calibri"/>
                <a:sym typeface="Calibri"/>
              </a:rPr>
              <a:t>Recommendations</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t/>
            </a:r>
            <a:endParaRPr b="1" sz="1400">
              <a:solidFill>
                <a:srgbClr val="173B6C"/>
              </a:solidFill>
              <a:latin typeface="Noto Sans Devanagari"/>
              <a:ea typeface="Noto Sans Devanagari"/>
              <a:cs typeface="Noto Sans Devanagari"/>
              <a:sym typeface="Noto Sans Devanaga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OST: </a:t>
            </a:r>
            <a:r>
              <a:rPr b="1" lang="en-US" sz="1300">
                <a:solidFill>
                  <a:srgbClr val="173B6C"/>
                </a:solidFill>
                <a:latin typeface="Calibri"/>
                <a:ea typeface="Calibri"/>
                <a:cs typeface="Calibri"/>
                <a:sym typeface="Calibri"/>
              </a:rPr>
              <a:t>कौन-सी टेबल ज़्यादा लंबी है?</a:t>
            </a:r>
            <a:endParaRPr b="1" sz="1300">
              <a:solidFill>
                <a:srgbClr val="173B6C"/>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a:t>
            </a:r>
            <a:r>
              <a:rPr lang="en-US" sz="1300">
                <a:solidFill>
                  <a:schemeClr val="dk1"/>
                </a:solidFill>
                <a:latin typeface="Calibri"/>
                <a:ea typeface="Calibri"/>
                <a:cs typeface="Calibri"/>
                <a:sym typeface="Calibri"/>
              </a:rPr>
              <a:t>इनमें से कौन-सी टेबल ज्यादा लंबी है? उस पर टैप करिए। </a:t>
            </a:r>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en-US" sz="1300">
                <a:solidFill>
                  <a:srgbClr val="1B2A44"/>
                </a:solidFill>
                <a:latin typeface="Calibri"/>
                <a:ea typeface="Calibri"/>
                <a:cs typeface="Calibri"/>
                <a:sym typeface="Calibri"/>
              </a:rPr>
              <a:t>Correct Response: SFX</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lang="en-US" sz="1300">
                <a:solidFill>
                  <a:srgbClr val="1B2A44"/>
                </a:solidFill>
                <a:latin typeface="Calibri"/>
                <a:ea typeface="Calibri"/>
                <a:cs typeface="Calibri"/>
                <a:sym typeface="Calibri"/>
              </a:rPr>
              <a:t>Incorrect: Pulsate/hand nudge on the long table and play VO: यह टेबल ज्यादा लंबी है। </a:t>
            </a:r>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p:txBody>
      </p:sp>
      <p:pic>
        <p:nvPicPr>
          <p:cNvPr descr="A green and yellow table&#10;&#10;AI-generated content may be incorrect." id="109" name="Google Shape;109;p4"/>
          <p:cNvPicPr preferRelativeResize="0"/>
          <p:nvPr/>
        </p:nvPicPr>
        <p:blipFill rotWithShape="1">
          <a:blip r:embed="rId4">
            <a:alphaModFix/>
          </a:blip>
          <a:srcRect b="0" l="0" r="0" t="0"/>
          <a:stretch/>
        </p:blipFill>
        <p:spPr>
          <a:xfrm>
            <a:off x="9057596" y="4453881"/>
            <a:ext cx="2902644" cy="1935096"/>
          </a:xfrm>
          <a:prstGeom prst="rect">
            <a:avLst/>
          </a:prstGeom>
          <a:noFill/>
          <a:ln>
            <a:noFill/>
          </a:ln>
        </p:spPr>
      </p:pic>
      <p:pic>
        <p:nvPicPr>
          <p:cNvPr descr="A wooden table with black background&#10;&#10;AI-generated content may be incorrect." id="110" name="Google Shape;110;p4"/>
          <p:cNvPicPr preferRelativeResize="0"/>
          <p:nvPr/>
        </p:nvPicPr>
        <p:blipFill rotWithShape="1">
          <a:blip r:embed="rId5">
            <a:alphaModFix/>
          </a:blip>
          <a:srcRect b="0" l="0" r="0" t="0"/>
          <a:stretch/>
        </p:blipFill>
        <p:spPr>
          <a:xfrm>
            <a:off x="4126190" y="4301294"/>
            <a:ext cx="4480561" cy="224028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5"/>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3 · 03_DEMO_COUNT.png</a:t>
            </a:r>
            <a:endParaRPr/>
          </a:p>
        </p:txBody>
      </p:sp>
      <p:pic>
        <p:nvPicPr>
          <p:cNvPr descr="03_DEMO_COUNT.png" id="116" name="Google Shape;116;p5"/>
          <p:cNvPicPr preferRelativeResize="0"/>
          <p:nvPr/>
        </p:nvPicPr>
        <p:blipFill rotWithShape="1">
          <a:blip r:embed="rId3">
            <a:alphaModFix/>
          </a:blip>
          <a:srcRect b="0" l="0" r="0" t="0"/>
          <a:stretch/>
        </p:blipFill>
        <p:spPr>
          <a:xfrm>
            <a:off x="225302" y="780725"/>
            <a:ext cx="5467365" cy="3059755"/>
          </a:xfrm>
          <a:prstGeom prst="rect">
            <a:avLst/>
          </a:prstGeom>
          <a:noFill/>
          <a:ln>
            <a:noFill/>
          </a:ln>
        </p:spPr>
      </p:pic>
      <p:sp>
        <p:nvSpPr>
          <p:cNvPr id="117" name="Google Shape;117;p5"/>
          <p:cNvSpPr txBox="1"/>
          <p:nvPr/>
        </p:nvSpPr>
        <p:spPr>
          <a:xfrm>
            <a:off x="5692667" y="389706"/>
            <a:ext cx="6133500" cy="60645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B3D8C"/>
                </a:solidFill>
                <a:latin typeface="Calibri"/>
                <a:ea typeface="Calibri"/>
                <a:cs typeface="Calibri"/>
                <a:sym typeface="Calibri"/>
              </a:rPr>
              <a:t>Recommendations</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Heading OST:</a:t>
            </a:r>
            <a:r>
              <a:rPr lang="en-US" sz="1200">
                <a:solidFill>
                  <a:schemeClr val="dk1"/>
                </a:solidFill>
                <a:latin typeface="Calibri"/>
                <a:ea typeface="Calibri"/>
                <a:cs typeface="Calibri"/>
                <a:sym typeface="Calibri"/>
              </a:rPr>
              <a:t> चलिए, टेबल की लंबाई मापते हैं।</a:t>
            </a:r>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Heading VO:</a:t>
            </a:r>
            <a:r>
              <a:rPr lang="en-US" sz="1200">
                <a:solidFill>
                  <a:schemeClr val="dk1"/>
                </a:solidFill>
                <a:latin typeface="Calibri"/>
                <a:ea typeface="Calibri"/>
                <a:cs typeface="Calibri"/>
                <a:sym typeface="Calibri"/>
              </a:rPr>
              <a:t> यह टेबल कितनी लंबी है? चलिए, इसे ब्लॉक से मापकर देखते हैं।</a:t>
            </a:r>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VO1 — Explain</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“इसके लिए हम टेबल के एक छोर से मापना शुरू करेंगे।”</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[Show a dotted vertical line at the left edge of the table and pulsate it.]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“फिर एक-एक ब्लॉक रखते हुए दूसरे छोर तक जाएंगे।”</a:t>
            </a:r>
            <a:endParaRPr sz="1200">
              <a:solidFill>
                <a:schemeClr val="dk1"/>
              </a:solidFill>
              <a:latin typeface="Calibri"/>
              <a:ea typeface="Calibri"/>
              <a:cs typeface="Calibri"/>
              <a:sym typeface="Calibri"/>
            </a:endParaRPr>
          </a:p>
          <a:p>
            <a:pPr indent="0" lvl="0" marL="0" marR="0" rtl="0" algn="just">
              <a:spcBef>
                <a:spcPts val="0"/>
              </a:spcBef>
              <a:spcAft>
                <a:spcPts val="0"/>
              </a:spcAft>
              <a:buNone/>
            </a:pPr>
            <a:r>
              <a:rPr i="1" lang="en-US" sz="1200">
                <a:solidFill>
                  <a:schemeClr val="dk1"/>
                </a:solidFill>
                <a:latin typeface="Calibri"/>
                <a:ea typeface="Calibri"/>
                <a:cs typeface="Calibri"/>
                <a:sym typeface="Calibri"/>
              </a:rPr>
              <a:t>[Show/pulsate the right endpoint.]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VO2 — Demonstrate: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चलिए, शुरू करते हैं—एक... दो...।</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[Swiftee drags the blocks one by one from the source to the target positions.]</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VO3 — Reinforce the rule before child action:</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अब ध्यान रखें! हर अगला ब्लॉक वहीं से शुरू करें, जहाँ पिछला खत्म हुआ था।</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[Pulse the endpoint of the previous block]</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बीच में जगह न छोड़ें</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[Place the third block away from the previous one and highlight the gap with a pulsating box, then remove it]</a:t>
            </a:r>
            <a:r>
              <a:rPr lang="en-US" sz="1200">
                <a:solidFill>
                  <a:schemeClr val="dk1"/>
                </a:solidFill>
                <a:latin typeface="Calibri"/>
                <a:ea typeface="Calibri"/>
                <a:cs typeface="Calibri"/>
                <a:sym typeface="Calibri"/>
              </a:rPr>
              <a:t>,</a:t>
            </a:r>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और एक-दूसरे के ऊपर न रखें।</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[Show the next block incorrectly overlapping the previous measured block; highlight the overlap. Then remove it.]</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Then child-action VO:</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अब आगे आप मापिए और बताइए, टेबल कितने ब्लॉक लंबी है।</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[Show a drag animation from the source to the target, as the block moves from the source, show a target tile and drag the block onto it.]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Play the counting VO when child drags and drops the next blocks.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Feedback/hint: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Inactivity:</a:t>
            </a:r>
            <a:r>
              <a:rPr lang="en-US" sz="1200">
                <a:solidFill>
                  <a:schemeClr val="dk1"/>
                </a:solidFill>
                <a:latin typeface="Calibri"/>
                <a:ea typeface="Calibri"/>
                <a:cs typeface="Calibri"/>
                <a:sym typeface="Calibri"/>
              </a:rPr>
              <a:t> Show a ghost-drag animation.</a:t>
            </a:r>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Wrong attempt:</a:t>
            </a:r>
            <a:r>
              <a:rPr lang="en-US" sz="1200">
                <a:solidFill>
                  <a:schemeClr val="dk1"/>
                </a:solidFill>
                <a:latin typeface="Calibri"/>
                <a:ea typeface="Calibri"/>
                <a:cs typeface="Calibri"/>
                <a:sym typeface="Calibri"/>
              </a:rPr>
              <a:t> Bounce back, then show the ghost-drag animation.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On completion, play the VO: </a:t>
            </a:r>
            <a:r>
              <a:rPr b="1" lang="en-US" sz="1200">
                <a:solidFill>
                  <a:schemeClr val="dk1"/>
                </a:solidFill>
                <a:latin typeface="Calibri"/>
                <a:ea typeface="Calibri"/>
                <a:cs typeface="Calibri"/>
                <a:sym typeface="Calibri"/>
              </a:rPr>
              <a:t>“शाबाश! यह टेबल 9 ब्लॉक्स लंबी है।”</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Show the text </a:t>
            </a:r>
            <a:r>
              <a:rPr b="1" lang="en-US" sz="1200">
                <a:solidFill>
                  <a:schemeClr val="dk1"/>
                </a:solidFill>
                <a:latin typeface="Calibri"/>
                <a:ea typeface="Calibri"/>
                <a:cs typeface="Calibri"/>
                <a:sym typeface="Calibri"/>
              </a:rPr>
              <a:t>“9 ब्लॉक्स”</a:t>
            </a:r>
            <a:r>
              <a:rPr lang="en-US" sz="1200">
                <a:solidFill>
                  <a:schemeClr val="dk1"/>
                </a:solidFill>
                <a:latin typeface="Calibri"/>
                <a:ea typeface="Calibri"/>
                <a:cs typeface="Calibri"/>
                <a:sym typeface="Calibri"/>
              </a:rPr>
              <a:t> below the table measured with blocks.</a:t>
            </a:r>
            <a:endParaRPr/>
          </a:p>
        </p:txBody>
      </p:sp>
      <p:pic>
        <p:nvPicPr>
          <p:cNvPr descr="A wooden table with black background&#10;&#10;AI-generated content may be incorrect." id="118" name="Google Shape;118;p5"/>
          <p:cNvPicPr preferRelativeResize="0"/>
          <p:nvPr/>
        </p:nvPicPr>
        <p:blipFill rotWithShape="1">
          <a:blip r:embed="rId4">
            <a:alphaModFix/>
          </a:blip>
          <a:srcRect b="0" l="0" r="0" t="0"/>
          <a:stretch/>
        </p:blipFill>
        <p:spPr>
          <a:xfrm>
            <a:off x="590425" y="3935405"/>
            <a:ext cx="4480560" cy="224028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6"/>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4 · 04_DEMO_COUNT.png</a:t>
            </a:r>
            <a:endParaRPr/>
          </a:p>
        </p:txBody>
      </p:sp>
      <p:pic>
        <p:nvPicPr>
          <p:cNvPr descr="04_DEMO_COUNT.png" id="124" name="Google Shape;124;p6"/>
          <p:cNvPicPr preferRelativeResize="0"/>
          <p:nvPr/>
        </p:nvPicPr>
        <p:blipFill rotWithShape="1">
          <a:blip r:embed="rId3">
            <a:alphaModFix/>
          </a:blip>
          <a:srcRect b="0" l="0" r="0" t="0"/>
          <a:stretch/>
        </p:blipFill>
        <p:spPr>
          <a:xfrm>
            <a:off x="548640" y="402336"/>
            <a:ext cx="5111496" cy="2860597"/>
          </a:xfrm>
          <a:prstGeom prst="rect">
            <a:avLst/>
          </a:prstGeom>
          <a:noFill/>
          <a:ln>
            <a:noFill/>
          </a:ln>
        </p:spPr>
      </p:pic>
      <p:sp>
        <p:nvSpPr>
          <p:cNvPr id="125" name="Google Shape;125;p6"/>
          <p:cNvSpPr txBox="1"/>
          <p:nvPr/>
        </p:nvSpPr>
        <p:spPr>
          <a:xfrm>
            <a:off x="5660136" y="297373"/>
            <a:ext cx="6263700" cy="6249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Heading OST:</a:t>
            </a:r>
            <a:r>
              <a:rPr lang="en-US" sz="1200">
                <a:solidFill>
                  <a:schemeClr val="dk1"/>
                </a:solidFill>
                <a:latin typeface="Calibri"/>
                <a:ea typeface="Calibri"/>
                <a:cs typeface="Calibri"/>
                <a:sym typeface="Calibri"/>
              </a:rPr>
              <a:t> अब दरवाजे की लंबाई मापते हैं।</a:t>
            </a:r>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Heading VO:</a:t>
            </a:r>
            <a:r>
              <a:rPr lang="en-US" sz="1200">
                <a:solidFill>
                  <a:schemeClr val="dk1"/>
                </a:solidFill>
                <a:latin typeface="Calibri"/>
                <a:ea typeface="Calibri"/>
                <a:cs typeface="Calibri"/>
                <a:sym typeface="Calibri"/>
              </a:rPr>
              <a:t> क्या आप बता सकते हैं, यह दरवाजा कितना लंबा है? चलिए, इसे ब्लॉक से मापकर देखते हैं।</a:t>
            </a:r>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VO1 — Explain</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“इसके लिए हम दरवाजे के निचले छोर से मापना शुरू करेंगे</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[Show a dotted horizontal line at the bottom of the door and pulsate it.]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और ऊपर तक जाएंगे।”</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[Show/pulsate the top endpoint.]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VO2 — Demonstrate:</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चलिए, शुरू करते हैं—एक... दो...।</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[Swiftee drags the blocks one by one from the source to the target positions (on the right).]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VO3 — Reinforce the rule before child action:</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अब ध्यान रखें! हर अगला ब्लॉक वहीं से शुरू करें, जहाँ पिछला खत्म हुआ था।</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[Pulse the endpoint of the previous block]</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बीच में जगह न छोड़ें</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[Place the third block away from the previous one and highlight the gap with a pulsating box, then remove it]</a:t>
            </a:r>
            <a:r>
              <a:rPr lang="en-US" sz="1200">
                <a:solidFill>
                  <a:schemeClr val="dk1"/>
                </a:solidFill>
                <a:latin typeface="Calibri"/>
                <a:ea typeface="Calibri"/>
                <a:cs typeface="Calibri"/>
                <a:sym typeface="Calibri"/>
              </a:rPr>
              <a:t>,</a:t>
            </a:r>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और एक-दूसरे के ऊपर न रखें।</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[Show the next block incorrectly overlapping the previous measured block; highlight the overlap. Then remove it.]</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Then child-action VO:</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अब आगे आप मापिए और बताइए, दरवाजे की लंबाई कितनी है।</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i="1" lang="en-US" sz="1200">
                <a:solidFill>
                  <a:schemeClr val="dk1"/>
                </a:solidFill>
                <a:latin typeface="Calibri"/>
                <a:ea typeface="Calibri"/>
                <a:cs typeface="Calibri"/>
                <a:sym typeface="Calibri"/>
              </a:rPr>
              <a:t>[Show a drag animation from the source to the target; as the block moves from the source, show a target tile and drag the block onto it.]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Play the </a:t>
            </a:r>
            <a:r>
              <a:rPr b="1" lang="en-US" sz="1200">
                <a:solidFill>
                  <a:schemeClr val="dk1"/>
                </a:solidFill>
                <a:latin typeface="Calibri"/>
                <a:ea typeface="Calibri"/>
                <a:cs typeface="Calibri"/>
                <a:sym typeface="Calibri"/>
              </a:rPr>
              <a:t>counting VO</a:t>
            </a:r>
            <a:r>
              <a:rPr lang="en-US" sz="1200">
                <a:solidFill>
                  <a:schemeClr val="dk1"/>
                </a:solidFill>
                <a:latin typeface="Calibri"/>
                <a:ea typeface="Calibri"/>
                <a:cs typeface="Calibri"/>
                <a:sym typeface="Calibri"/>
              </a:rPr>
              <a:t> when child drags and drops the next blocks.</a:t>
            </a:r>
            <a:endParaRPr/>
          </a:p>
          <a:p>
            <a:pPr indent="0" lvl="0" marL="0" marR="0" rtl="0" algn="l">
              <a:spcBef>
                <a:spcPts val="0"/>
              </a:spcBef>
              <a:spcAft>
                <a:spcPts val="0"/>
              </a:spcAft>
              <a:buNone/>
            </a:pPr>
            <a:r>
              <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Feedback/hint:</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Inactivity:</a:t>
            </a:r>
            <a:r>
              <a:rPr lang="en-US" sz="1200">
                <a:solidFill>
                  <a:schemeClr val="dk1"/>
                </a:solidFill>
                <a:latin typeface="Calibri"/>
                <a:ea typeface="Calibri"/>
                <a:cs typeface="Calibri"/>
                <a:sym typeface="Calibri"/>
              </a:rPr>
              <a:t> Show a ghost-drag animation.</a:t>
            </a:r>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Wrong attempt:</a:t>
            </a:r>
            <a:r>
              <a:rPr lang="en-US" sz="1200">
                <a:solidFill>
                  <a:schemeClr val="dk1"/>
                </a:solidFill>
                <a:latin typeface="Calibri"/>
                <a:ea typeface="Calibri"/>
                <a:cs typeface="Calibri"/>
                <a:sym typeface="Calibri"/>
              </a:rPr>
              <a:t> Bounce back, then show the ghost-drag animation.</a:t>
            </a:r>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On completion, play the VO:</a:t>
            </a:r>
            <a:endParaRPr/>
          </a:p>
          <a:p>
            <a:pPr indent="0" lvl="0" marL="0" marR="0" rtl="0" algn="l">
              <a:spcBef>
                <a:spcPts val="0"/>
              </a:spcBef>
              <a:spcAft>
                <a:spcPts val="0"/>
              </a:spcAft>
              <a:buNone/>
            </a:pPr>
            <a:r>
              <a:rPr b="1" lang="en-US" sz="1200">
                <a:solidFill>
                  <a:schemeClr val="dk1"/>
                </a:solidFill>
                <a:latin typeface="Calibri"/>
                <a:ea typeface="Calibri"/>
                <a:cs typeface="Calibri"/>
                <a:sym typeface="Calibri"/>
              </a:rPr>
              <a:t>“शाबाश! यह दरवाजा 7 ब्लॉक्स लंबा है।”</a:t>
            </a:r>
            <a:endParaRPr sz="1200">
              <a:solidFill>
                <a:schemeClr val="dk1"/>
              </a:solidFill>
              <a:latin typeface="Calibri"/>
              <a:ea typeface="Calibri"/>
              <a:cs typeface="Calibri"/>
              <a:sym typeface="Calibri"/>
            </a:endParaRPr>
          </a:p>
          <a:p>
            <a:pPr indent="0" lvl="0" marL="0" marR="0" rtl="0" algn="l">
              <a:spcBef>
                <a:spcPts val="0"/>
              </a:spcBef>
              <a:spcAft>
                <a:spcPts val="0"/>
              </a:spcAft>
              <a:buNone/>
            </a:pPr>
            <a:r>
              <a:rPr lang="en-US" sz="1200">
                <a:solidFill>
                  <a:schemeClr val="dk1"/>
                </a:solidFill>
                <a:latin typeface="Calibri"/>
                <a:ea typeface="Calibri"/>
                <a:cs typeface="Calibri"/>
                <a:sym typeface="Calibri"/>
              </a:rPr>
              <a:t>Show the text </a:t>
            </a:r>
            <a:r>
              <a:rPr b="1" lang="en-US" sz="1200">
                <a:solidFill>
                  <a:schemeClr val="dk1"/>
                </a:solidFill>
                <a:latin typeface="Calibri"/>
                <a:ea typeface="Calibri"/>
                <a:cs typeface="Calibri"/>
                <a:sym typeface="Calibri"/>
              </a:rPr>
              <a:t>“7 ब्लॉक्स”</a:t>
            </a:r>
            <a:r>
              <a:rPr lang="en-US" sz="1200">
                <a:solidFill>
                  <a:schemeClr val="dk1"/>
                </a:solidFill>
                <a:latin typeface="Calibri"/>
                <a:ea typeface="Calibri"/>
                <a:cs typeface="Calibri"/>
                <a:sym typeface="Calibri"/>
              </a:rPr>
              <a:t> below the door measured with blocks.</a:t>
            </a:r>
            <a:endParaRPr/>
          </a:p>
        </p:txBody>
      </p:sp>
      <p:pic>
        <p:nvPicPr>
          <p:cNvPr descr="A close up of a door&#10;&#10;AI-generated content may be incorrect." id="126" name="Google Shape;126;p6"/>
          <p:cNvPicPr preferRelativeResize="0"/>
          <p:nvPr/>
        </p:nvPicPr>
        <p:blipFill rotWithShape="1">
          <a:blip r:embed="rId4">
            <a:alphaModFix/>
          </a:blip>
          <a:srcRect b="0" l="27421" r="27086" t="0"/>
          <a:stretch/>
        </p:blipFill>
        <p:spPr>
          <a:xfrm>
            <a:off x="1828800" y="2459736"/>
            <a:ext cx="2907792" cy="4261104"/>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7"/>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5 · 05_MAKE_SET.png</a:t>
            </a:r>
            <a:endParaRPr/>
          </a:p>
        </p:txBody>
      </p:sp>
      <p:pic>
        <p:nvPicPr>
          <p:cNvPr descr="05_MAKE_SET.png" id="132" name="Google Shape;132;p7"/>
          <p:cNvPicPr preferRelativeResize="0"/>
          <p:nvPr/>
        </p:nvPicPr>
        <p:blipFill rotWithShape="1">
          <a:blip r:embed="rId3">
            <a:alphaModFix/>
          </a:blip>
          <a:srcRect b="0" l="0" r="0" t="0"/>
          <a:stretch/>
        </p:blipFill>
        <p:spPr>
          <a:xfrm>
            <a:off x="365760" y="731521"/>
            <a:ext cx="5175504" cy="2896418"/>
          </a:xfrm>
          <a:prstGeom prst="rect">
            <a:avLst/>
          </a:prstGeom>
          <a:noFill/>
          <a:ln>
            <a:noFill/>
          </a:ln>
        </p:spPr>
      </p:pic>
      <p:sp>
        <p:nvSpPr>
          <p:cNvPr id="133" name="Google Shape;133;p7"/>
          <p:cNvSpPr txBox="1"/>
          <p:nvPr/>
        </p:nvSpPr>
        <p:spPr>
          <a:xfrm>
            <a:off x="5779008" y="382012"/>
            <a:ext cx="6236100" cy="609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0B3D8C"/>
                </a:solidFill>
                <a:latin typeface="Calibri"/>
                <a:ea typeface="Calibri"/>
                <a:cs typeface="Calibri"/>
                <a:sym typeface="Calibri"/>
              </a:rPr>
              <a:t>Recommendations</a:t>
            </a:r>
            <a:endParaRPr b="1" sz="1300">
              <a:solidFill>
                <a:srgbClr val="0B3D8C"/>
              </a:solidFill>
              <a:latin typeface="Calibri"/>
              <a:ea typeface="Calibri"/>
              <a:cs typeface="Calibri"/>
              <a:sym typeface="Calibri"/>
            </a:endParaRPr>
          </a:p>
          <a:p>
            <a:pPr indent="0" lvl="0" marL="0" marR="0" rtl="0" algn="l">
              <a:spcBef>
                <a:spcPts val="0"/>
              </a:spcBef>
              <a:spcAft>
                <a:spcPts val="0"/>
              </a:spcAft>
              <a:buNone/>
            </a:pPr>
            <a:r>
              <a:t/>
            </a:r>
            <a:endParaRPr sz="1300">
              <a:solidFill>
                <a:srgbClr val="1B2A44"/>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Instruction OST: पलंग की लंबाई ब्लॉक से मापिए।</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a:t>
            </a:r>
            <a:r>
              <a:rPr lang="en-US" sz="1300">
                <a:solidFill>
                  <a:schemeClr val="dk1"/>
                </a:solidFill>
                <a:latin typeface="Calibri"/>
                <a:ea typeface="Calibri"/>
                <a:cs typeface="Calibri"/>
                <a:sym typeface="Calibri"/>
              </a:rPr>
              <a:t> Same as OST.</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Action: </a:t>
            </a:r>
            <a:r>
              <a:rPr lang="en-US" sz="1300">
                <a:solidFill>
                  <a:schemeClr val="dk1"/>
                </a:solidFill>
                <a:latin typeface="Calibri"/>
                <a:ea typeface="Calibri"/>
                <a:cs typeface="Calibri"/>
                <a:sym typeface="Calibri"/>
              </a:rPr>
              <a:t>Child drags and drops the blocks one by one.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On each correct drop: </a:t>
            </a:r>
            <a:r>
              <a:rPr lang="en-US" sz="1300">
                <a:solidFill>
                  <a:schemeClr val="dk1"/>
                </a:solidFill>
                <a:latin typeface="Calibri"/>
                <a:ea typeface="Calibri"/>
                <a:cs typeface="Calibri"/>
                <a:sym typeface="Calibri"/>
              </a:rPr>
              <a:t>Keep the placed block visible.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Inactivity: </a:t>
            </a:r>
            <a:r>
              <a:rPr lang="en-US" sz="1300">
                <a:solidFill>
                  <a:schemeClr val="dk1"/>
                </a:solidFill>
                <a:latin typeface="Calibri"/>
                <a:ea typeface="Calibri"/>
                <a:cs typeface="Calibri"/>
                <a:sym typeface="Calibri"/>
              </a:rPr>
              <a:t>Show a ghost-drag animation from the block source to the next correct target position.</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placement – Gap/Overlap: </a:t>
            </a:r>
            <a:r>
              <a:rPr lang="en-US" sz="1300">
                <a:solidFill>
                  <a:schemeClr val="dk1"/>
                </a:solidFill>
                <a:latin typeface="Calibri"/>
                <a:ea typeface="Calibri"/>
                <a:cs typeface="Calibri"/>
                <a:sym typeface="Calibri"/>
              </a:rPr>
              <a:t>Bounce the block back.</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 </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After completing the measurement</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Keep all the blocks visible.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Replace the Instruction OST with: पलंग की लंबाई कितनी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अब बताइए, पलंग की लंबाई कितनी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Show options:</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 11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B. 12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 13 ब्लॉक्स</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Action: </a:t>
            </a:r>
            <a:r>
              <a:rPr lang="en-US" sz="1300">
                <a:solidFill>
                  <a:schemeClr val="dk1"/>
                </a:solidFill>
                <a:latin typeface="Calibri"/>
                <a:ea typeface="Calibri"/>
                <a:cs typeface="Calibri"/>
                <a:sym typeface="Calibri"/>
              </a:rPr>
              <a:t>Child taps one of the options.</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Answer: 12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Feedback VO: शाबाश! पलंग की लंबाई 12 ब्लॉक्स है।</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Wrong-answer feedback</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1: </a:t>
            </a:r>
            <a:r>
              <a:rPr lang="en-US" sz="1300">
                <a:solidFill>
                  <a:schemeClr val="dk1"/>
                </a:solidFill>
                <a:latin typeface="Calibri"/>
                <a:ea typeface="Calibri"/>
                <a:cs typeface="Calibri"/>
                <a:sym typeface="Calibri"/>
              </a:rPr>
              <a:t>Selected option wiggles, show glow on the blocks and play the VO: </a:t>
            </a:r>
            <a:r>
              <a:rPr b="1" lang="en-US" sz="1300">
                <a:solidFill>
                  <a:schemeClr val="dk1"/>
                </a:solidFill>
                <a:latin typeface="Calibri"/>
                <a:ea typeface="Calibri"/>
                <a:cs typeface="Calibri"/>
                <a:sym typeface="Calibri"/>
              </a:rPr>
              <a:t>“ब्लॉक्स को एक बार फिर गिनिए।”</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2: </a:t>
            </a:r>
            <a:r>
              <a:rPr lang="en-US" sz="1300">
                <a:solidFill>
                  <a:schemeClr val="dk1"/>
                </a:solidFill>
                <a:latin typeface="Calibri"/>
                <a:ea typeface="Calibri"/>
                <a:cs typeface="Calibri"/>
                <a:sym typeface="Calibri"/>
              </a:rPr>
              <a:t>Sequentially highlight each block while playing the counting VO: </a:t>
            </a:r>
            <a:r>
              <a:rPr b="1" lang="en-US" sz="1300">
                <a:solidFill>
                  <a:schemeClr val="dk1"/>
                </a:solidFill>
                <a:latin typeface="Calibri"/>
                <a:ea typeface="Calibri"/>
                <a:cs typeface="Calibri"/>
                <a:sym typeface="Calibri"/>
              </a:rPr>
              <a:t>“एक… दो… तीन… चार… पाँच… छह… सात… आठ..</a:t>
            </a:r>
            <a:r>
              <a:rPr b="1" lang="en-US" sz="1300">
                <a:solidFill>
                  <a:schemeClr val="dk1"/>
                </a:solidFill>
                <a:latin typeface="Calibri"/>
                <a:ea typeface="Calibri"/>
                <a:cs typeface="Calibri"/>
                <a:sym typeface="Calibri"/>
              </a:rPr>
              <a:t>नौ…दस…ग्यारह…बारह</a:t>
            </a:r>
            <a:r>
              <a:rPr b="1" lang="en-US"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3: </a:t>
            </a:r>
            <a:r>
              <a:rPr lang="en-US" sz="1300">
                <a:solidFill>
                  <a:schemeClr val="dk1"/>
                </a:solidFill>
                <a:latin typeface="Calibri"/>
                <a:ea typeface="Calibri"/>
                <a:cs typeface="Calibri"/>
                <a:sym typeface="Calibri"/>
              </a:rPr>
              <a:t>Show counting digits below each block, then show a hand nudge on the correct option.</a:t>
            </a:r>
            <a:endParaRPr/>
          </a:p>
        </p:txBody>
      </p:sp>
      <p:pic>
        <p:nvPicPr>
          <p:cNvPr descr="A blue and white pattern on a black background&#10;&#10;AI-generated content may be incorrect." id="134" name="Google Shape;134;p7"/>
          <p:cNvPicPr preferRelativeResize="0"/>
          <p:nvPr/>
        </p:nvPicPr>
        <p:blipFill rotWithShape="1">
          <a:blip r:embed="rId4">
            <a:alphaModFix/>
          </a:blip>
          <a:srcRect b="0" l="0" r="0" t="0"/>
          <a:stretch/>
        </p:blipFill>
        <p:spPr>
          <a:xfrm>
            <a:off x="667512" y="1554479"/>
            <a:ext cx="4571999" cy="2286000"/>
          </a:xfrm>
          <a:prstGeom prst="rect">
            <a:avLst/>
          </a:prstGeom>
          <a:noFill/>
          <a:ln>
            <a:noFill/>
          </a:ln>
        </p:spPr>
      </p:pic>
      <p:sp>
        <p:nvSpPr>
          <p:cNvPr id="135" name="Google Shape;135;p7"/>
          <p:cNvSpPr txBox="1"/>
          <p:nvPr/>
        </p:nvSpPr>
        <p:spPr>
          <a:xfrm>
            <a:off x="3209544" y="0"/>
            <a:ext cx="2331720" cy="58477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n-US" sz="3200">
                <a:solidFill>
                  <a:srgbClr val="C00000"/>
                </a:solidFill>
                <a:latin typeface="Calibri"/>
                <a:ea typeface="Calibri"/>
                <a:cs typeface="Calibri"/>
                <a:sym typeface="Calibri"/>
              </a:rPr>
              <a:t>Practice </a:t>
            </a:r>
            <a:endParaRPr b="1" sz="3200">
              <a:solidFill>
                <a:srgbClr val="C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8"/>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6 · 06_COUNT_HOW_MANY.png</a:t>
            </a:r>
            <a:endParaRPr/>
          </a:p>
        </p:txBody>
      </p:sp>
      <p:pic>
        <p:nvPicPr>
          <p:cNvPr descr="06_COUNT_HOW_MANY.png" id="141" name="Google Shape;141;p8"/>
          <p:cNvPicPr preferRelativeResize="0"/>
          <p:nvPr/>
        </p:nvPicPr>
        <p:blipFill rotWithShape="1">
          <a:blip r:embed="rId3">
            <a:alphaModFix/>
          </a:blip>
          <a:srcRect b="0" l="0" r="0" t="0"/>
          <a:stretch/>
        </p:blipFill>
        <p:spPr>
          <a:xfrm>
            <a:off x="365760" y="731521"/>
            <a:ext cx="5163149" cy="2889504"/>
          </a:xfrm>
          <a:prstGeom prst="rect">
            <a:avLst/>
          </a:prstGeom>
          <a:noFill/>
          <a:ln>
            <a:noFill/>
          </a:ln>
        </p:spPr>
      </p:pic>
      <p:sp>
        <p:nvSpPr>
          <p:cNvPr id="142" name="Google Shape;142;p8"/>
          <p:cNvSpPr txBox="1"/>
          <p:nvPr/>
        </p:nvSpPr>
        <p:spPr>
          <a:xfrm>
            <a:off x="5907329" y="352098"/>
            <a:ext cx="5918911" cy="609397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0B3D8C"/>
                </a:solidFill>
                <a:latin typeface="Calibri"/>
                <a:ea typeface="Calibri"/>
                <a:cs typeface="Calibri"/>
                <a:sym typeface="Calibri"/>
              </a:rPr>
              <a:t>Recommendations</a:t>
            </a:r>
            <a:endParaRPr b="1" sz="1300">
              <a:solidFill>
                <a:srgbClr val="0B3D8C"/>
              </a:solidFill>
              <a:latin typeface="Calibri"/>
              <a:ea typeface="Calibri"/>
              <a:cs typeface="Calibri"/>
              <a:sym typeface="Calibri"/>
            </a:endParaRPr>
          </a:p>
          <a:p>
            <a:pPr indent="0" lvl="0" marL="0" marR="0" rtl="0" algn="l">
              <a:spcBef>
                <a:spcPts val="0"/>
              </a:spcBef>
              <a:spcAft>
                <a:spcPts val="0"/>
              </a:spcAft>
              <a:buNone/>
            </a:pPr>
            <a:r>
              <a:t/>
            </a:r>
            <a:endParaRPr b="1" sz="1300">
              <a:solidFill>
                <a:srgbClr val="0B3D8C"/>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Instruction OST: अलमारी की लंबाई ब्लॉक से मापिए।</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a:t>
            </a:r>
            <a:r>
              <a:rPr lang="en-US" sz="1300">
                <a:solidFill>
                  <a:schemeClr val="dk1"/>
                </a:solidFill>
                <a:latin typeface="Calibri"/>
                <a:ea typeface="Calibri"/>
                <a:cs typeface="Calibri"/>
                <a:sym typeface="Calibri"/>
              </a:rPr>
              <a:t> Same as OST.</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Action: </a:t>
            </a:r>
            <a:r>
              <a:rPr lang="en-US" sz="1300">
                <a:solidFill>
                  <a:schemeClr val="dk1"/>
                </a:solidFill>
                <a:latin typeface="Calibri"/>
                <a:ea typeface="Calibri"/>
                <a:cs typeface="Calibri"/>
                <a:sym typeface="Calibri"/>
              </a:rPr>
              <a:t>Child drags and drops the blocks one by one.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On each correct drop: </a:t>
            </a:r>
            <a:r>
              <a:rPr lang="en-US" sz="1300">
                <a:solidFill>
                  <a:schemeClr val="dk1"/>
                </a:solidFill>
                <a:latin typeface="Calibri"/>
                <a:ea typeface="Calibri"/>
                <a:cs typeface="Calibri"/>
                <a:sym typeface="Calibri"/>
              </a:rPr>
              <a:t>Keep the placed block visible.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Inactivity: </a:t>
            </a:r>
            <a:r>
              <a:rPr lang="en-US" sz="1300">
                <a:solidFill>
                  <a:schemeClr val="dk1"/>
                </a:solidFill>
                <a:latin typeface="Calibri"/>
                <a:ea typeface="Calibri"/>
                <a:cs typeface="Calibri"/>
                <a:sym typeface="Calibri"/>
              </a:rPr>
              <a:t>Show a ghost-drag animation from the block source to the next correct target position.</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placement – Gap/Overlap: </a:t>
            </a:r>
            <a:r>
              <a:rPr lang="en-US" sz="1300">
                <a:solidFill>
                  <a:schemeClr val="dk1"/>
                </a:solidFill>
                <a:latin typeface="Calibri"/>
                <a:ea typeface="Calibri"/>
                <a:cs typeface="Calibri"/>
                <a:sym typeface="Calibri"/>
              </a:rPr>
              <a:t>Bounce the block back.</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After completing the measurement</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Keep all the blocks visible.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Replace the Instruction OST with: अलमारी की लंबाई कितनी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अब बताइए, अलमारी की लंबाई कितनी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Show options:</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 6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B. 7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 8 ब्लॉक्स</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Action: </a:t>
            </a:r>
            <a:r>
              <a:rPr lang="en-US" sz="1300">
                <a:solidFill>
                  <a:schemeClr val="dk1"/>
                </a:solidFill>
                <a:latin typeface="Calibri"/>
                <a:ea typeface="Calibri"/>
                <a:cs typeface="Calibri"/>
                <a:sym typeface="Calibri"/>
              </a:rPr>
              <a:t>Child taps one of the options.</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Answer: 7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Feedback VO: शाबाश! अलमारी की लंबाई 7 ब्लॉक्स है।</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Wrong-answer feedback</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1: </a:t>
            </a:r>
            <a:r>
              <a:rPr lang="en-US" sz="1300">
                <a:solidFill>
                  <a:schemeClr val="dk1"/>
                </a:solidFill>
                <a:latin typeface="Calibri"/>
                <a:ea typeface="Calibri"/>
                <a:cs typeface="Calibri"/>
                <a:sym typeface="Calibri"/>
              </a:rPr>
              <a:t>Selected option wiggles, show glow on the blocks and play the VO:</a:t>
            </a:r>
            <a:br>
              <a:rPr lang="en-US" sz="1300">
                <a:solidFill>
                  <a:schemeClr val="dk1"/>
                </a:solidFill>
                <a:latin typeface="Calibri"/>
                <a:ea typeface="Calibri"/>
                <a:cs typeface="Calibri"/>
                <a:sym typeface="Calibri"/>
              </a:rPr>
            </a:br>
            <a:r>
              <a:rPr b="1" lang="en-US" sz="1300">
                <a:solidFill>
                  <a:schemeClr val="dk1"/>
                </a:solidFill>
                <a:latin typeface="Calibri"/>
                <a:ea typeface="Calibri"/>
                <a:cs typeface="Calibri"/>
                <a:sym typeface="Calibri"/>
              </a:rPr>
              <a:t>“ब्लॉक्स को एक बार फिर गिनिए।”</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2: </a:t>
            </a:r>
            <a:r>
              <a:rPr lang="en-US" sz="1300">
                <a:solidFill>
                  <a:schemeClr val="dk1"/>
                </a:solidFill>
                <a:latin typeface="Calibri"/>
                <a:ea typeface="Calibri"/>
                <a:cs typeface="Calibri"/>
                <a:sym typeface="Calibri"/>
              </a:rPr>
              <a:t>Sequentially highlight each block while playing the counting VO:</a:t>
            </a:r>
            <a:br>
              <a:rPr lang="en-US" sz="1300">
                <a:solidFill>
                  <a:schemeClr val="dk1"/>
                </a:solidFill>
                <a:latin typeface="Calibri"/>
                <a:ea typeface="Calibri"/>
                <a:cs typeface="Calibri"/>
                <a:sym typeface="Calibri"/>
              </a:rPr>
            </a:br>
            <a:r>
              <a:rPr b="1" lang="en-US" sz="1300">
                <a:solidFill>
                  <a:schemeClr val="dk1"/>
                </a:solidFill>
                <a:latin typeface="Calibri"/>
                <a:ea typeface="Calibri"/>
                <a:cs typeface="Calibri"/>
                <a:sym typeface="Calibri"/>
              </a:rPr>
              <a:t>“एक… दो… तीन… चार… पाँच… छह… सात।”</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3: </a:t>
            </a:r>
            <a:r>
              <a:rPr lang="en-US" sz="1300">
                <a:solidFill>
                  <a:schemeClr val="dk1"/>
                </a:solidFill>
                <a:latin typeface="Calibri"/>
                <a:ea typeface="Calibri"/>
                <a:cs typeface="Calibri"/>
                <a:sym typeface="Calibri"/>
              </a:rPr>
              <a:t>Show counting digits beside each block, then show a hand nudge on the correct option.</a:t>
            </a:r>
            <a:endParaRPr/>
          </a:p>
        </p:txBody>
      </p:sp>
      <p:pic>
        <p:nvPicPr>
          <p:cNvPr descr="A wooden cabinet with handles&#10;&#10;AI-generated content may be incorrect." id="143" name="Google Shape;143;p8"/>
          <p:cNvPicPr preferRelativeResize="0"/>
          <p:nvPr/>
        </p:nvPicPr>
        <p:blipFill rotWithShape="1">
          <a:blip r:embed="rId4">
            <a:alphaModFix/>
          </a:blip>
          <a:srcRect b="0" l="0" r="0" t="0"/>
          <a:stretch/>
        </p:blipFill>
        <p:spPr>
          <a:xfrm>
            <a:off x="1676318" y="3159129"/>
            <a:ext cx="2465914" cy="3698871"/>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7" name="Shape 147"/>
        <p:cNvGrpSpPr/>
        <p:nvPr/>
      </p:nvGrpSpPr>
      <p:grpSpPr>
        <a:xfrm>
          <a:off x="0" y="0"/>
          <a:ext cx="0" cy="0"/>
          <a:chOff x="0" y="0"/>
          <a:chExt cx="0" cy="0"/>
        </a:xfrm>
      </p:grpSpPr>
      <p:sp>
        <p:nvSpPr>
          <p:cNvPr id="148" name="Google Shape;148;p9"/>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6 · 06_COUNT_HOW_MANY.png</a:t>
            </a:r>
            <a:endParaRPr/>
          </a:p>
        </p:txBody>
      </p:sp>
      <p:pic>
        <p:nvPicPr>
          <p:cNvPr descr="06_COUNT_HOW_MANY.png" id="149" name="Google Shape;149;p9"/>
          <p:cNvPicPr preferRelativeResize="0"/>
          <p:nvPr/>
        </p:nvPicPr>
        <p:blipFill rotWithShape="1">
          <a:blip r:embed="rId3">
            <a:alphaModFix/>
          </a:blip>
          <a:srcRect b="0" l="0" r="0" t="0"/>
          <a:stretch/>
        </p:blipFill>
        <p:spPr>
          <a:xfrm>
            <a:off x="365760" y="731521"/>
            <a:ext cx="5163149" cy="2889504"/>
          </a:xfrm>
          <a:prstGeom prst="rect">
            <a:avLst/>
          </a:prstGeom>
          <a:noFill/>
          <a:ln>
            <a:noFill/>
          </a:ln>
        </p:spPr>
      </p:pic>
      <p:sp>
        <p:nvSpPr>
          <p:cNvPr id="150" name="Google Shape;150;p9"/>
          <p:cNvSpPr txBox="1"/>
          <p:nvPr/>
        </p:nvSpPr>
        <p:spPr>
          <a:xfrm>
            <a:off x="5907329" y="574037"/>
            <a:ext cx="5919000" cy="58953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Instruction OST: तकिये की लंबाई ब्लॉक से मापिए।</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a:t>
            </a:r>
            <a:r>
              <a:rPr lang="en-US" sz="1300">
                <a:solidFill>
                  <a:schemeClr val="dk1"/>
                </a:solidFill>
                <a:latin typeface="Calibri"/>
                <a:ea typeface="Calibri"/>
                <a:cs typeface="Calibri"/>
                <a:sym typeface="Calibri"/>
              </a:rPr>
              <a:t> Same as OST.</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Action: </a:t>
            </a:r>
            <a:r>
              <a:rPr lang="en-US" sz="1300">
                <a:solidFill>
                  <a:schemeClr val="dk1"/>
                </a:solidFill>
                <a:latin typeface="Calibri"/>
                <a:ea typeface="Calibri"/>
                <a:cs typeface="Calibri"/>
                <a:sym typeface="Calibri"/>
              </a:rPr>
              <a:t>Child drags and drops the blocks one by one.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On each correct drop: </a:t>
            </a:r>
            <a:r>
              <a:rPr lang="en-US" sz="1300">
                <a:solidFill>
                  <a:schemeClr val="dk1"/>
                </a:solidFill>
                <a:latin typeface="Calibri"/>
                <a:ea typeface="Calibri"/>
                <a:cs typeface="Calibri"/>
                <a:sym typeface="Calibri"/>
              </a:rPr>
              <a:t>Keep the placed block visible.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Inactivity: </a:t>
            </a:r>
            <a:r>
              <a:rPr lang="en-US" sz="1300">
                <a:solidFill>
                  <a:schemeClr val="dk1"/>
                </a:solidFill>
                <a:latin typeface="Calibri"/>
                <a:ea typeface="Calibri"/>
                <a:cs typeface="Calibri"/>
                <a:sym typeface="Calibri"/>
              </a:rPr>
              <a:t>Show a ghost-drag animation from the block source to the next correct target position.</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placement – Gap/Overlap: </a:t>
            </a:r>
            <a:r>
              <a:rPr lang="en-US" sz="1300">
                <a:solidFill>
                  <a:schemeClr val="dk1"/>
                </a:solidFill>
                <a:latin typeface="Calibri"/>
                <a:ea typeface="Calibri"/>
                <a:cs typeface="Calibri"/>
                <a:sym typeface="Calibri"/>
              </a:rPr>
              <a:t>Bounce the block back.</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After completing the measurement</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Keep all the blocks visible.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Replace the Instruction OST with: तकिये की लंबाई कितनी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अब बताइए, तकिये की लंबाई कितनी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Show options:</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 </a:t>
            </a:r>
            <a:r>
              <a:rPr b="1" lang="en-US" sz="1300">
                <a:solidFill>
                  <a:schemeClr val="dk1"/>
                </a:solidFill>
                <a:latin typeface="Calibri"/>
                <a:ea typeface="Calibri"/>
                <a:cs typeface="Calibri"/>
                <a:sym typeface="Calibri"/>
              </a:rPr>
              <a:t>4</a:t>
            </a:r>
            <a:r>
              <a:rPr b="1" lang="en-US" sz="1300">
                <a:solidFill>
                  <a:schemeClr val="dk1"/>
                </a:solidFill>
                <a:latin typeface="Calibri"/>
                <a:ea typeface="Calibri"/>
                <a:cs typeface="Calibri"/>
                <a:sym typeface="Calibri"/>
              </a:rPr>
              <a:t>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B. 5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C.6 ब्लॉक्स</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Action: </a:t>
            </a:r>
            <a:r>
              <a:rPr lang="en-US" sz="1300">
                <a:solidFill>
                  <a:schemeClr val="dk1"/>
                </a:solidFill>
                <a:latin typeface="Calibri"/>
                <a:ea typeface="Calibri"/>
                <a:cs typeface="Calibri"/>
                <a:sym typeface="Calibri"/>
              </a:rPr>
              <a:t>Child taps one of the options.</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Answer: 5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Feedback VO: शाबाश! तकिये की लंबाई 5 ब्लॉक्स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Wrong-answer feedback</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1: </a:t>
            </a:r>
            <a:r>
              <a:rPr lang="en-US" sz="1300">
                <a:solidFill>
                  <a:schemeClr val="dk1"/>
                </a:solidFill>
                <a:latin typeface="Calibri"/>
                <a:ea typeface="Calibri"/>
                <a:cs typeface="Calibri"/>
                <a:sym typeface="Calibri"/>
              </a:rPr>
              <a:t>Selected option wiggles, show glow on the blocks and play the VO:</a:t>
            </a:r>
            <a:br>
              <a:rPr lang="en-US" sz="1300">
                <a:solidFill>
                  <a:schemeClr val="dk1"/>
                </a:solidFill>
                <a:latin typeface="Calibri"/>
                <a:ea typeface="Calibri"/>
                <a:cs typeface="Calibri"/>
                <a:sym typeface="Calibri"/>
              </a:rPr>
            </a:br>
            <a:r>
              <a:rPr b="1" lang="en-US" sz="1300">
                <a:solidFill>
                  <a:schemeClr val="dk1"/>
                </a:solidFill>
                <a:latin typeface="Calibri"/>
                <a:ea typeface="Calibri"/>
                <a:cs typeface="Calibri"/>
                <a:sym typeface="Calibri"/>
              </a:rPr>
              <a:t>“ब्लॉक्स को एक बार फिर गिनिए।”</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2: </a:t>
            </a:r>
            <a:r>
              <a:rPr lang="en-US" sz="1300">
                <a:solidFill>
                  <a:schemeClr val="dk1"/>
                </a:solidFill>
                <a:latin typeface="Calibri"/>
                <a:ea typeface="Calibri"/>
                <a:cs typeface="Calibri"/>
                <a:sym typeface="Calibri"/>
              </a:rPr>
              <a:t>Sequentially highlight each block while playing the counting VO:</a:t>
            </a:r>
            <a:br>
              <a:rPr lang="en-US" sz="1300">
                <a:solidFill>
                  <a:schemeClr val="dk1"/>
                </a:solidFill>
                <a:latin typeface="Calibri"/>
                <a:ea typeface="Calibri"/>
                <a:cs typeface="Calibri"/>
                <a:sym typeface="Calibri"/>
              </a:rPr>
            </a:br>
            <a:r>
              <a:rPr b="1" lang="en-US" sz="1300">
                <a:solidFill>
                  <a:schemeClr val="dk1"/>
                </a:solidFill>
                <a:latin typeface="Calibri"/>
                <a:ea typeface="Calibri"/>
                <a:cs typeface="Calibri"/>
                <a:sym typeface="Calibri"/>
              </a:rPr>
              <a:t>“एक… दो… तीन…</a:t>
            </a:r>
            <a:r>
              <a:rPr b="1" lang="en-US" sz="1300">
                <a:solidFill>
                  <a:schemeClr val="dk1"/>
                </a:solidFill>
                <a:latin typeface="Calibri"/>
                <a:ea typeface="Calibri"/>
                <a:cs typeface="Calibri"/>
                <a:sym typeface="Calibri"/>
              </a:rPr>
              <a:t>चार…पाँच</a:t>
            </a:r>
            <a:r>
              <a:rPr b="1" lang="en-US"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3: </a:t>
            </a:r>
            <a:r>
              <a:rPr lang="en-US" sz="1300">
                <a:solidFill>
                  <a:schemeClr val="dk1"/>
                </a:solidFill>
                <a:latin typeface="Calibri"/>
                <a:ea typeface="Calibri"/>
                <a:cs typeface="Calibri"/>
                <a:sym typeface="Calibri"/>
              </a:rPr>
              <a:t>Show counting digits below each block, then show a hand nudge on the correct option.</a:t>
            </a:r>
            <a:endParaRPr/>
          </a:p>
        </p:txBody>
      </p:sp>
      <p:pic>
        <p:nvPicPr>
          <p:cNvPr descr="A pillow with flowers on it&#10;&#10;AI-generated content may be incorrect." id="151" name="Google Shape;151;p9"/>
          <p:cNvPicPr preferRelativeResize="0"/>
          <p:nvPr/>
        </p:nvPicPr>
        <p:blipFill rotWithShape="1">
          <a:blip r:embed="rId4">
            <a:alphaModFix/>
          </a:blip>
          <a:srcRect b="0" l="0" r="0" t="0"/>
          <a:stretch/>
        </p:blipFill>
        <p:spPr>
          <a:xfrm>
            <a:off x="1969688" y="4242818"/>
            <a:ext cx="1955292" cy="1303528"/>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10"/>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7 · 07_MAKE_SET.png</a:t>
            </a:r>
            <a:endParaRPr/>
          </a:p>
        </p:txBody>
      </p:sp>
      <p:pic>
        <p:nvPicPr>
          <p:cNvPr descr="07_MAKE_SET.png" id="157" name="Google Shape;157;p10"/>
          <p:cNvPicPr preferRelativeResize="0"/>
          <p:nvPr/>
        </p:nvPicPr>
        <p:blipFill rotWithShape="1">
          <a:blip r:embed="rId3">
            <a:alphaModFix/>
          </a:blip>
          <a:srcRect b="0" l="0" r="0" t="0"/>
          <a:stretch/>
        </p:blipFill>
        <p:spPr>
          <a:xfrm>
            <a:off x="521208" y="685800"/>
            <a:ext cx="4199142" cy="2350007"/>
          </a:xfrm>
          <a:prstGeom prst="rect">
            <a:avLst/>
          </a:prstGeom>
          <a:noFill/>
          <a:ln>
            <a:noFill/>
          </a:ln>
        </p:spPr>
      </p:pic>
      <p:sp>
        <p:nvSpPr>
          <p:cNvPr id="158" name="Google Shape;158;p10"/>
          <p:cNvSpPr txBox="1"/>
          <p:nvPr/>
        </p:nvSpPr>
        <p:spPr>
          <a:xfrm>
            <a:off x="5367528" y="382012"/>
            <a:ext cx="6458400" cy="60954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0B3D8C"/>
                </a:solidFill>
                <a:latin typeface="Calibri"/>
                <a:ea typeface="Calibri"/>
                <a:cs typeface="Calibri"/>
                <a:sym typeface="Calibri"/>
              </a:rPr>
              <a:t>Recommendations</a:t>
            </a:r>
            <a:endParaRPr b="1" sz="1300">
              <a:solidFill>
                <a:srgbClr val="0B3D8C"/>
              </a:solidFill>
              <a:latin typeface="Calibri"/>
              <a:ea typeface="Calibri"/>
              <a:cs typeface="Calibri"/>
              <a:sym typeface="Calibri"/>
            </a:endParaRPr>
          </a:p>
          <a:p>
            <a:pPr indent="0" lvl="0" marL="0" marR="0" rtl="0" algn="l">
              <a:spcBef>
                <a:spcPts val="0"/>
              </a:spcBef>
              <a:spcAft>
                <a:spcPts val="0"/>
              </a:spcAft>
              <a:buNone/>
            </a:pPr>
            <a:r>
              <a:t/>
            </a:r>
            <a:endParaRPr b="1" sz="1300">
              <a:solidFill>
                <a:srgbClr val="0B3D8C"/>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Instruction OST: फ्रिज की लंबाई ब्लॉक से मापिए।</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a:t>
            </a:r>
            <a:r>
              <a:rPr lang="en-US" sz="1300">
                <a:solidFill>
                  <a:schemeClr val="dk1"/>
                </a:solidFill>
                <a:latin typeface="Calibri"/>
                <a:ea typeface="Calibri"/>
                <a:cs typeface="Calibri"/>
                <a:sym typeface="Calibri"/>
              </a:rPr>
              <a:t> Same as OST.</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Action: </a:t>
            </a:r>
            <a:r>
              <a:rPr lang="en-US" sz="1300">
                <a:solidFill>
                  <a:schemeClr val="dk1"/>
                </a:solidFill>
                <a:latin typeface="Calibri"/>
                <a:ea typeface="Calibri"/>
                <a:cs typeface="Calibri"/>
                <a:sym typeface="Calibri"/>
              </a:rPr>
              <a:t>Child drags and drops the blocks one by one.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On each correct drop: </a:t>
            </a:r>
            <a:r>
              <a:rPr lang="en-US" sz="1300">
                <a:solidFill>
                  <a:schemeClr val="dk1"/>
                </a:solidFill>
                <a:latin typeface="Calibri"/>
                <a:ea typeface="Calibri"/>
                <a:cs typeface="Calibri"/>
                <a:sym typeface="Calibri"/>
              </a:rPr>
              <a:t>Keep the placed block visible.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Inactivity: </a:t>
            </a:r>
            <a:r>
              <a:rPr lang="en-US" sz="1300">
                <a:solidFill>
                  <a:schemeClr val="dk1"/>
                </a:solidFill>
                <a:latin typeface="Calibri"/>
                <a:ea typeface="Calibri"/>
                <a:cs typeface="Calibri"/>
                <a:sym typeface="Calibri"/>
              </a:rPr>
              <a:t>Show a ghost-drag animation from the block source to the next correct target position.</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placement – Gap/Overlap: </a:t>
            </a:r>
            <a:r>
              <a:rPr lang="en-US" sz="1300">
                <a:solidFill>
                  <a:schemeClr val="dk1"/>
                </a:solidFill>
                <a:latin typeface="Calibri"/>
                <a:ea typeface="Calibri"/>
                <a:cs typeface="Calibri"/>
                <a:sym typeface="Calibri"/>
              </a:rPr>
              <a:t>Bounce the block back.</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After completing the measurement</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Keep all the blocks visible.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Replace the Instruction OST with: फ्रिज की लंबाई कितनी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अब बताइए, फ्रिज की लंबाई कितनी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Show options:</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 6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B. 7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 8 ब्लॉक्स</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Action: </a:t>
            </a:r>
            <a:r>
              <a:rPr lang="en-US" sz="1300">
                <a:solidFill>
                  <a:schemeClr val="dk1"/>
                </a:solidFill>
                <a:latin typeface="Calibri"/>
                <a:ea typeface="Calibri"/>
                <a:cs typeface="Calibri"/>
                <a:sym typeface="Calibri"/>
              </a:rPr>
              <a:t>Child taps one of the options.</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Answer: 7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Feedback VO: शाबाश! फ्रिज की लंबाई 7 ब्लॉक्स है।</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Wrong-answer feedback</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1: </a:t>
            </a:r>
            <a:r>
              <a:rPr lang="en-US" sz="1300">
                <a:solidFill>
                  <a:schemeClr val="dk1"/>
                </a:solidFill>
                <a:latin typeface="Calibri"/>
                <a:ea typeface="Calibri"/>
                <a:cs typeface="Calibri"/>
                <a:sym typeface="Calibri"/>
              </a:rPr>
              <a:t>Selected option wiggles, show glow on the blocks and play the VO:</a:t>
            </a:r>
            <a:br>
              <a:rPr lang="en-US" sz="1300">
                <a:solidFill>
                  <a:schemeClr val="dk1"/>
                </a:solidFill>
                <a:latin typeface="Calibri"/>
                <a:ea typeface="Calibri"/>
                <a:cs typeface="Calibri"/>
                <a:sym typeface="Calibri"/>
              </a:rPr>
            </a:br>
            <a:r>
              <a:rPr b="1" lang="en-US" sz="1300">
                <a:solidFill>
                  <a:schemeClr val="dk1"/>
                </a:solidFill>
                <a:latin typeface="Calibri"/>
                <a:ea typeface="Calibri"/>
                <a:cs typeface="Calibri"/>
                <a:sym typeface="Calibri"/>
              </a:rPr>
              <a:t>“ब्लॉक्स को एक बार फिर गिनिए।”</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2: </a:t>
            </a:r>
            <a:r>
              <a:rPr lang="en-US" sz="1300">
                <a:solidFill>
                  <a:schemeClr val="dk1"/>
                </a:solidFill>
                <a:latin typeface="Calibri"/>
                <a:ea typeface="Calibri"/>
                <a:cs typeface="Calibri"/>
                <a:sym typeface="Calibri"/>
              </a:rPr>
              <a:t>Sequentially highlight each block while playing the counting VO:</a:t>
            </a:r>
            <a:br>
              <a:rPr lang="en-US" sz="1300">
                <a:solidFill>
                  <a:schemeClr val="dk1"/>
                </a:solidFill>
                <a:latin typeface="Calibri"/>
                <a:ea typeface="Calibri"/>
                <a:cs typeface="Calibri"/>
                <a:sym typeface="Calibri"/>
              </a:rPr>
            </a:br>
            <a:r>
              <a:rPr b="1" lang="en-US" sz="1300">
                <a:solidFill>
                  <a:schemeClr val="dk1"/>
                </a:solidFill>
                <a:latin typeface="Calibri"/>
                <a:ea typeface="Calibri"/>
                <a:cs typeface="Calibri"/>
                <a:sym typeface="Calibri"/>
              </a:rPr>
              <a:t>“एक… दो… तीन… चार… पाँच… छह...</a:t>
            </a:r>
            <a:r>
              <a:rPr b="1" lang="en-US" sz="1300">
                <a:solidFill>
                  <a:schemeClr val="dk1"/>
                </a:solidFill>
                <a:latin typeface="Calibri"/>
                <a:ea typeface="Calibri"/>
                <a:cs typeface="Calibri"/>
                <a:sym typeface="Calibri"/>
              </a:rPr>
              <a:t>सात</a:t>
            </a:r>
            <a:r>
              <a:rPr b="1" lang="en-US" sz="1300">
                <a:solidFill>
                  <a:schemeClr val="dk1"/>
                </a:solidFill>
                <a:latin typeface="Calibri"/>
                <a:ea typeface="Calibri"/>
                <a:cs typeface="Calibri"/>
                <a:sym typeface="Calibri"/>
              </a:rPr>
              <a: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Attempt 3: </a:t>
            </a:r>
            <a:r>
              <a:rPr lang="en-US" sz="1300">
                <a:solidFill>
                  <a:schemeClr val="dk1"/>
                </a:solidFill>
                <a:latin typeface="Calibri"/>
                <a:ea typeface="Calibri"/>
                <a:cs typeface="Calibri"/>
                <a:sym typeface="Calibri"/>
              </a:rPr>
              <a:t>Show counting digits below each block, then show a hand nudge on the correct option.</a:t>
            </a:r>
            <a:endParaRPr/>
          </a:p>
        </p:txBody>
      </p:sp>
      <p:pic>
        <p:nvPicPr>
          <p:cNvPr descr="A red refrigerator with a handle&#10;&#10;AI-generated content may be incorrect." id="159" name="Google Shape;159;p10"/>
          <p:cNvPicPr preferRelativeResize="0"/>
          <p:nvPr/>
        </p:nvPicPr>
        <p:blipFill rotWithShape="1">
          <a:blip r:embed="rId4">
            <a:alphaModFix/>
          </a:blip>
          <a:srcRect b="0" l="0" r="0" t="0"/>
          <a:stretch/>
        </p:blipFill>
        <p:spPr>
          <a:xfrm>
            <a:off x="1292352" y="3081528"/>
            <a:ext cx="2517648" cy="3776472"/>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3" name="Shape 163"/>
        <p:cNvGrpSpPr/>
        <p:nvPr/>
      </p:nvGrpSpPr>
      <p:grpSpPr>
        <a:xfrm>
          <a:off x="0" y="0"/>
          <a:ext cx="0" cy="0"/>
          <a:chOff x="0" y="0"/>
          <a:chExt cx="0" cy="0"/>
        </a:xfrm>
      </p:grpSpPr>
      <p:sp>
        <p:nvSpPr>
          <p:cNvPr id="164" name="Google Shape;164;p11"/>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8 · 08_COUNT_HOW_MANY.png</a:t>
            </a:r>
            <a:endParaRPr/>
          </a:p>
        </p:txBody>
      </p:sp>
      <p:pic>
        <p:nvPicPr>
          <p:cNvPr descr="08_COUNT_HOW_MANY.png" id="165" name="Google Shape;165;p11"/>
          <p:cNvPicPr preferRelativeResize="0"/>
          <p:nvPr/>
        </p:nvPicPr>
        <p:blipFill rotWithShape="1">
          <a:blip r:embed="rId3">
            <a:alphaModFix/>
          </a:blip>
          <a:srcRect b="0" l="0" r="0" t="0"/>
          <a:stretch/>
        </p:blipFill>
        <p:spPr>
          <a:xfrm>
            <a:off x="365760" y="731521"/>
            <a:ext cx="4509586" cy="2523744"/>
          </a:xfrm>
          <a:prstGeom prst="rect">
            <a:avLst/>
          </a:prstGeom>
          <a:noFill/>
          <a:ln>
            <a:noFill/>
          </a:ln>
        </p:spPr>
      </p:pic>
      <p:sp>
        <p:nvSpPr>
          <p:cNvPr id="166" name="Google Shape;166;p11"/>
          <p:cNvSpPr txBox="1"/>
          <p:nvPr/>
        </p:nvSpPr>
        <p:spPr>
          <a:xfrm>
            <a:off x="6096000" y="604124"/>
            <a:ext cx="5562300" cy="5094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Instruction OST: कौन-सी चटाई ज़्यादा लंबी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a:t>
            </a:r>
            <a:r>
              <a:rPr lang="en-US" sz="1300">
                <a:solidFill>
                  <a:schemeClr val="dk1"/>
                </a:solidFill>
                <a:latin typeface="Calibri"/>
                <a:ea typeface="Calibri"/>
                <a:cs typeface="Calibri"/>
                <a:sym typeface="Calibri"/>
              </a:rPr>
              <a:t>“कौन-सी चटाई ज़्यादा लंबी है? उस पर टैप करिए।”</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Visual Setup: </a:t>
            </a:r>
            <a:r>
              <a:rPr lang="en-US" sz="1300">
                <a:solidFill>
                  <a:schemeClr val="dk1"/>
                </a:solidFill>
                <a:latin typeface="Calibri"/>
                <a:ea typeface="Calibri"/>
                <a:cs typeface="Calibri"/>
                <a:sym typeface="Calibri"/>
              </a:rPr>
              <a:t>Show two mats of different lengths. Place equal-sized blocks continuously along the longer side of each mat, from one end to the other, without gaps or overlaps.</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For example: Mat 1 =</a:t>
            </a:r>
            <a:r>
              <a:rPr b="1" lang="en-US" sz="1300">
                <a:solidFill>
                  <a:schemeClr val="dk1"/>
                </a:solidFill>
                <a:latin typeface="Calibri"/>
                <a:ea typeface="Calibri"/>
                <a:cs typeface="Calibri"/>
                <a:sym typeface="Calibri"/>
              </a:rPr>
              <a:t> 8 ब्लॉक्स; </a:t>
            </a:r>
            <a:r>
              <a:rPr lang="en-US" sz="1300">
                <a:solidFill>
                  <a:schemeClr val="dk1"/>
                </a:solidFill>
                <a:latin typeface="Calibri"/>
                <a:ea typeface="Calibri"/>
                <a:cs typeface="Calibri"/>
                <a:sym typeface="Calibri"/>
              </a:rPr>
              <a:t>Mat 2 = </a:t>
            </a:r>
            <a:r>
              <a:rPr b="1" lang="en-US" sz="1300">
                <a:solidFill>
                  <a:schemeClr val="dk1"/>
                </a:solidFill>
                <a:latin typeface="Calibri"/>
                <a:ea typeface="Calibri"/>
                <a:cs typeface="Calibri"/>
                <a:sym typeface="Calibri"/>
              </a:rPr>
              <a:t>9</a:t>
            </a:r>
            <a:r>
              <a:rPr b="1" lang="en-US" sz="1300">
                <a:solidFill>
                  <a:schemeClr val="dk1"/>
                </a:solidFill>
                <a:latin typeface="Calibri"/>
                <a:ea typeface="Calibri"/>
                <a:cs typeface="Calibri"/>
                <a:sym typeface="Calibri"/>
              </a:rPr>
              <a:t>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Do not initially show the numbers; only show the blocks.</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Interaction: </a:t>
            </a:r>
            <a:r>
              <a:rPr lang="en-US" sz="1300">
                <a:solidFill>
                  <a:schemeClr val="dk1"/>
                </a:solidFill>
                <a:latin typeface="Calibri"/>
                <a:ea typeface="Calibri"/>
                <a:cs typeface="Calibri"/>
                <a:sym typeface="Calibri"/>
              </a:rPr>
              <a:t>Taps the mat that is longer.</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Response: </a:t>
            </a:r>
            <a:r>
              <a:rPr lang="en-US" sz="1300">
                <a:solidFill>
                  <a:schemeClr val="dk1"/>
                </a:solidFill>
                <a:latin typeface="Calibri"/>
                <a:ea typeface="Calibri"/>
                <a:cs typeface="Calibri"/>
                <a:sym typeface="Calibri"/>
              </a:rPr>
              <a:t>Highlight the selected mat and play SFX. [Show </a:t>
            </a:r>
            <a:r>
              <a:rPr b="1" lang="en-US" sz="1300">
                <a:solidFill>
                  <a:schemeClr val="dk1"/>
                </a:solidFill>
                <a:latin typeface="Calibri"/>
                <a:ea typeface="Calibri"/>
                <a:cs typeface="Calibri"/>
                <a:sym typeface="Calibri"/>
              </a:rPr>
              <a:t>8</a:t>
            </a:r>
            <a:r>
              <a:rPr b="1" lang="en-US" sz="1300">
                <a:solidFill>
                  <a:schemeClr val="dk1"/>
                </a:solidFill>
                <a:latin typeface="Calibri"/>
                <a:ea typeface="Calibri"/>
                <a:cs typeface="Calibri"/>
                <a:sym typeface="Calibri"/>
              </a:rPr>
              <a:t> ब्लॉक्स</a:t>
            </a:r>
            <a:r>
              <a:rPr lang="en-US" sz="1300">
                <a:solidFill>
                  <a:schemeClr val="dk1"/>
                </a:solidFill>
                <a:latin typeface="Calibri"/>
                <a:ea typeface="Calibri"/>
                <a:cs typeface="Calibri"/>
                <a:sym typeface="Calibri"/>
              </a:rPr>
              <a:t> and </a:t>
            </a:r>
            <a:r>
              <a:rPr b="1" lang="en-US" sz="1300">
                <a:solidFill>
                  <a:schemeClr val="dk1"/>
                </a:solidFill>
                <a:latin typeface="Calibri"/>
                <a:ea typeface="Calibri"/>
                <a:cs typeface="Calibri"/>
                <a:sym typeface="Calibri"/>
              </a:rPr>
              <a:t>9</a:t>
            </a:r>
            <a:r>
              <a:rPr b="1" lang="en-US" sz="1300">
                <a:solidFill>
                  <a:schemeClr val="dk1"/>
                </a:solidFill>
                <a:latin typeface="Calibri"/>
                <a:ea typeface="Calibri"/>
                <a:cs typeface="Calibri"/>
                <a:sym typeface="Calibri"/>
              </a:rPr>
              <a:t> ब्लॉक्स</a:t>
            </a:r>
            <a:r>
              <a:rPr lang="en-US" sz="1300">
                <a:solidFill>
                  <a:schemeClr val="dk1"/>
                </a:solidFill>
                <a:latin typeface="Calibri"/>
                <a:ea typeface="Calibri"/>
                <a:cs typeface="Calibri"/>
                <a:sym typeface="Calibri"/>
              </a:rPr>
              <a:t> below the respective mats to reinforce why the selected mat is longer.]</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a:t>
            </a:r>
            <a:r>
              <a:rPr lang="en-US" sz="1300">
                <a:solidFill>
                  <a:schemeClr val="dk1"/>
                </a:solidFill>
                <a:latin typeface="Calibri"/>
                <a:ea typeface="Calibri"/>
                <a:cs typeface="Calibri"/>
                <a:sym typeface="Calibri"/>
              </a:rPr>
              <a:t>“शाबाश! यह चटाई ज़्यादा लंबी है।”</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Feedback / Hints</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Attempt 1: </a:t>
            </a:r>
            <a:r>
              <a:rPr lang="en-US" sz="1300">
                <a:solidFill>
                  <a:schemeClr val="dk1"/>
                </a:solidFill>
                <a:latin typeface="Calibri"/>
                <a:ea typeface="Calibri"/>
                <a:cs typeface="Calibri"/>
                <a:sym typeface="Calibri"/>
              </a:rPr>
              <a:t>The incorrectly selected mat wiggles.</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Then sequentially highlight the blocks on </a:t>
            </a:r>
            <a:r>
              <a:rPr b="1" lang="en-US" sz="1300">
                <a:solidFill>
                  <a:schemeClr val="dk1"/>
                </a:solidFill>
                <a:latin typeface="Calibri"/>
                <a:ea typeface="Calibri"/>
                <a:cs typeface="Calibri"/>
                <a:sym typeface="Calibri"/>
              </a:rPr>
              <a:t>both mats</a:t>
            </a:r>
            <a:r>
              <a:rPr lang="en-US" sz="1300">
                <a:solidFill>
                  <a:schemeClr val="dk1"/>
                </a:solidFill>
                <a:latin typeface="Calibri"/>
                <a:ea typeface="Calibri"/>
                <a:cs typeface="Calibri"/>
                <a:sym typeface="Calibri"/>
              </a:rPr>
              <a:t>, with counting digits appearing below each block: First mat: </a:t>
            </a:r>
            <a:r>
              <a:rPr b="1" lang="en-US" sz="1300">
                <a:solidFill>
                  <a:schemeClr val="dk1"/>
                </a:solidFill>
                <a:latin typeface="Calibri"/>
                <a:ea typeface="Calibri"/>
                <a:cs typeface="Calibri"/>
                <a:sym typeface="Calibri"/>
              </a:rPr>
              <a:t>1 → 2 → 3 → 4 → 5 → 6</a:t>
            </a:r>
            <a:r>
              <a:rPr b="1" lang="en-US" sz="1300">
                <a:solidFill>
                  <a:schemeClr val="dk1"/>
                </a:solidFill>
                <a:latin typeface="Calibri"/>
                <a:ea typeface="Calibri"/>
                <a:cs typeface="Calibri"/>
                <a:sym typeface="Calibri"/>
              </a:rPr>
              <a:t>→ 7→ 8</a:t>
            </a:r>
            <a:r>
              <a:rPr b="1" lang="en-US" sz="1300">
                <a:solidFill>
                  <a:schemeClr val="dk1"/>
                </a:solidFill>
                <a:latin typeface="Calibri"/>
                <a:ea typeface="Calibri"/>
                <a:cs typeface="Calibri"/>
                <a:sym typeface="Calibri"/>
              </a:rPr>
              <a:t>; </a:t>
            </a:r>
            <a:r>
              <a:rPr lang="en-US" sz="1300">
                <a:solidFill>
                  <a:schemeClr val="dk1"/>
                </a:solidFill>
                <a:latin typeface="Calibri"/>
                <a:ea typeface="Calibri"/>
                <a:cs typeface="Calibri"/>
                <a:sym typeface="Calibri"/>
              </a:rPr>
              <a:t>Second mat: </a:t>
            </a:r>
            <a:r>
              <a:rPr b="1" lang="en-US" sz="1300">
                <a:solidFill>
                  <a:schemeClr val="dk1"/>
                </a:solidFill>
                <a:latin typeface="Calibri"/>
                <a:ea typeface="Calibri"/>
                <a:cs typeface="Calibri"/>
                <a:sym typeface="Calibri"/>
              </a:rPr>
              <a:t>1 → 2 → 3 → 4 → 5 → 6 → 7</a:t>
            </a:r>
            <a:r>
              <a:rPr b="1" lang="en-US" sz="1300">
                <a:solidFill>
                  <a:schemeClr val="dk1"/>
                </a:solidFill>
                <a:latin typeface="Calibri"/>
                <a:ea typeface="Calibri"/>
                <a:cs typeface="Calibri"/>
                <a:sym typeface="Calibri"/>
              </a:rPr>
              <a:t>→ 8→ 9</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Also play the corresponding counting VO during the highlighting.</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After counting, repeat only the question: play the </a:t>
            </a:r>
            <a:r>
              <a:rPr b="1" lang="en-US" sz="1300">
                <a:solidFill>
                  <a:schemeClr val="dk1"/>
                </a:solidFill>
                <a:latin typeface="Calibri"/>
                <a:ea typeface="Calibri"/>
                <a:cs typeface="Calibri"/>
                <a:sym typeface="Calibri"/>
              </a:rPr>
              <a:t>VO: </a:t>
            </a:r>
            <a:r>
              <a:rPr lang="en-US" sz="1300">
                <a:solidFill>
                  <a:schemeClr val="dk1"/>
                </a:solidFill>
                <a:latin typeface="Calibri"/>
                <a:ea typeface="Calibri"/>
                <a:cs typeface="Calibri"/>
                <a:sym typeface="Calibri"/>
              </a:rPr>
              <a:t>“अब बताइए, कौन-सी चटाई ज़्यादा लंबी है?”</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Attempt 2: </a:t>
            </a:r>
            <a:r>
              <a:rPr lang="en-US" sz="1300">
                <a:solidFill>
                  <a:schemeClr val="dk1"/>
                </a:solidFill>
                <a:latin typeface="Calibri"/>
                <a:ea typeface="Calibri"/>
                <a:cs typeface="Calibri"/>
                <a:sym typeface="Calibri"/>
              </a:rPr>
              <a:t>Show a </a:t>
            </a:r>
            <a:r>
              <a:rPr b="1" lang="en-US" sz="1300">
                <a:solidFill>
                  <a:schemeClr val="dk1"/>
                </a:solidFill>
                <a:latin typeface="Calibri"/>
                <a:ea typeface="Calibri"/>
                <a:cs typeface="Calibri"/>
                <a:sym typeface="Calibri"/>
              </a:rPr>
              <a:t>hand-nudge</a:t>
            </a:r>
            <a:r>
              <a:rPr lang="en-US" sz="1300">
                <a:solidFill>
                  <a:schemeClr val="dk1"/>
                </a:solidFill>
                <a:latin typeface="Calibri"/>
                <a:ea typeface="Calibri"/>
                <a:cs typeface="Calibri"/>
                <a:sym typeface="Calibri"/>
              </a:rPr>
              <a:t> on the correct mat. When the child taps it, play the SFX used for the correct response.</a:t>
            </a:r>
            <a:endParaRPr/>
          </a:p>
        </p:txBody>
      </p:sp>
      <p:pic>
        <p:nvPicPr>
          <p:cNvPr descr="A rectangular mat with a red border&#10;&#10;AI-generated content may be incorrect." id="167" name="Google Shape;167;p11"/>
          <p:cNvPicPr preferRelativeResize="0"/>
          <p:nvPr/>
        </p:nvPicPr>
        <p:blipFill rotWithShape="1">
          <a:blip r:embed="rId4">
            <a:alphaModFix/>
          </a:blip>
          <a:srcRect b="0" l="0" r="0" t="0"/>
          <a:stretch/>
        </p:blipFill>
        <p:spPr>
          <a:xfrm>
            <a:off x="218783" y="4071547"/>
            <a:ext cx="4509587" cy="2254794"/>
          </a:xfrm>
          <a:prstGeom prst="rect">
            <a:avLst/>
          </a:prstGeom>
          <a:noFill/>
          <a:ln>
            <a:noFill/>
          </a:ln>
        </p:spPr>
      </p:pic>
      <p:pic>
        <p:nvPicPr>
          <p:cNvPr descr="A close up of a mat&#10;&#10;AI-generated content may be incorrect." id="168" name="Google Shape;168;p11"/>
          <p:cNvPicPr preferRelativeResize="0"/>
          <p:nvPr/>
        </p:nvPicPr>
        <p:blipFill rotWithShape="1">
          <a:blip r:embed="rId5">
            <a:alphaModFix/>
          </a:blip>
          <a:srcRect b="0" l="0" r="0" t="0"/>
          <a:stretch/>
        </p:blipFill>
        <p:spPr>
          <a:xfrm>
            <a:off x="89987" y="1353312"/>
            <a:ext cx="4767180" cy="317812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12"/>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9 · 09_MAKE_SET.png</a:t>
            </a:r>
            <a:endParaRPr/>
          </a:p>
        </p:txBody>
      </p:sp>
      <p:pic>
        <p:nvPicPr>
          <p:cNvPr descr="09_MAKE_SET.png" id="174" name="Google Shape;174;p12"/>
          <p:cNvPicPr preferRelativeResize="0"/>
          <p:nvPr/>
        </p:nvPicPr>
        <p:blipFill rotWithShape="1">
          <a:blip r:embed="rId3">
            <a:alphaModFix/>
          </a:blip>
          <a:srcRect b="0" l="0" r="0" t="0"/>
          <a:stretch/>
        </p:blipFill>
        <p:spPr>
          <a:xfrm>
            <a:off x="365760" y="731520"/>
            <a:ext cx="4820028" cy="2697480"/>
          </a:xfrm>
          <a:prstGeom prst="rect">
            <a:avLst/>
          </a:prstGeom>
          <a:noFill/>
          <a:ln>
            <a:noFill/>
          </a:ln>
        </p:spPr>
      </p:pic>
      <p:sp>
        <p:nvSpPr>
          <p:cNvPr id="175" name="Google Shape;175;p12"/>
          <p:cNvSpPr txBox="1"/>
          <p:nvPr/>
        </p:nvSpPr>
        <p:spPr>
          <a:xfrm>
            <a:off x="5495849" y="982176"/>
            <a:ext cx="6330300" cy="4894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t/>
            </a:r>
            <a:endParaRPr b="1" sz="1300">
              <a:solidFill>
                <a:srgbClr val="0B3D8C"/>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Instruction OST: कौन-सी कुर्सी ज़्यादा लंबी है?</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a:t>
            </a:r>
            <a:r>
              <a:rPr lang="en-US" sz="1300">
                <a:solidFill>
                  <a:schemeClr val="dk1"/>
                </a:solidFill>
                <a:latin typeface="Calibri"/>
                <a:ea typeface="Calibri"/>
                <a:cs typeface="Calibri"/>
                <a:sym typeface="Calibri"/>
              </a:rPr>
              <a:t>“कौन-सी कुर्सी ज़्यादा लंबी है? उस पर टैप करिए।”</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Visual Setup: </a:t>
            </a:r>
            <a:r>
              <a:rPr lang="en-US" sz="1300">
                <a:solidFill>
                  <a:schemeClr val="dk1"/>
                </a:solidFill>
                <a:latin typeface="Calibri"/>
                <a:ea typeface="Calibri"/>
                <a:cs typeface="Calibri"/>
                <a:sym typeface="Calibri"/>
              </a:rPr>
              <a:t>Show two chairs of different heights. Place equal-sized blocks continuously along the height of each chair, from bottom to top, without gaps or overlaps.</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For example: Chair 1 = </a:t>
            </a:r>
            <a:r>
              <a:rPr b="1" lang="en-US" sz="1300">
                <a:solidFill>
                  <a:schemeClr val="dk1"/>
                </a:solidFill>
                <a:latin typeface="Calibri"/>
                <a:ea typeface="Calibri"/>
                <a:cs typeface="Calibri"/>
                <a:sym typeface="Calibri"/>
              </a:rPr>
              <a:t>6</a:t>
            </a:r>
            <a:r>
              <a:rPr b="1" lang="en-US" sz="1300">
                <a:solidFill>
                  <a:schemeClr val="dk1"/>
                </a:solidFill>
                <a:latin typeface="Calibri"/>
                <a:ea typeface="Calibri"/>
                <a:cs typeface="Calibri"/>
                <a:sym typeface="Calibri"/>
              </a:rPr>
              <a:t> ब्लॉक्स; </a:t>
            </a:r>
            <a:r>
              <a:rPr lang="en-US" sz="1300">
                <a:solidFill>
                  <a:schemeClr val="dk1"/>
                </a:solidFill>
                <a:latin typeface="Calibri"/>
                <a:ea typeface="Calibri"/>
                <a:cs typeface="Calibri"/>
                <a:sym typeface="Calibri"/>
              </a:rPr>
              <a:t>Chair 2 = </a:t>
            </a:r>
            <a:r>
              <a:rPr b="1" lang="en-US" sz="1300">
                <a:solidFill>
                  <a:schemeClr val="dk1"/>
                </a:solidFill>
                <a:latin typeface="Calibri"/>
                <a:ea typeface="Calibri"/>
                <a:cs typeface="Calibri"/>
                <a:sym typeface="Calibri"/>
              </a:rPr>
              <a:t>7</a:t>
            </a:r>
            <a:r>
              <a:rPr b="1" lang="en-US" sz="1300">
                <a:solidFill>
                  <a:schemeClr val="dk1"/>
                </a:solidFill>
                <a:latin typeface="Calibri"/>
                <a:ea typeface="Calibri"/>
                <a:cs typeface="Calibri"/>
                <a:sym typeface="Calibri"/>
              </a:rPr>
              <a:t>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Do not initially show the numbers; only show the blocks.</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Interaction: </a:t>
            </a:r>
            <a:r>
              <a:rPr lang="en-US" sz="1300">
                <a:solidFill>
                  <a:schemeClr val="dk1"/>
                </a:solidFill>
                <a:latin typeface="Calibri"/>
                <a:ea typeface="Calibri"/>
                <a:cs typeface="Calibri"/>
                <a:sym typeface="Calibri"/>
              </a:rPr>
              <a:t>Taps the chair that is taller.</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Response: </a:t>
            </a:r>
            <a:r>
              <a:rPr lang="en-US" sz="1300">
                <a:solidFill>
                  <a:schemeClr val="dk1"/>
                </a:solidFill>
                <a:latin typeface="Calibri"/>
                <a:ea typeface="Calibri"/>
                <a:cs typeface="Calibri"/>
                <a:sym typeface="Calibri"/>
              </a:rPr>
              <a:t>Highlight the selected chair and play SFX. [Show </a:t>
            </a:r>
            <a:r>
              <a:rPr b="1" lang="en-US" sz="1300">
                <a:solidFill>
                  <a:schemeClr val="dk1"/>
                </a:solidFill>
                <a:latin typeface="Calibri"/>
                <a:ea typeface="Calibri"/>
                <a:cs typeface="Calibri"/>
                <a:sym typeface="Calibri"/>
              </a:rPr>
              <a:t>6</a:t>
            </a:r>
            <a:r>
              <a:rPr b="1" lang="en-US" sz="1300">
                <a:solidFill>
                  <a:schemeClr val="dk1"/>
                </a:solidFill>
                <a:latin typeface="Calibri"/>
                <a:ea typeface="Calibri"/>
                <a:cs typeface="Calibri"/>
                <a:sym typeface="Calibri"/>
              </a:rPr>
              <a:t> ब्लॉक्स</a:t>
            </a:r>
            <a:r>
              <a:rPr lang="en-US" sz="1300">
                <a:solidFill>
                  <a:schemeClr val="dk1"/>
                </a:solidFill>
                <a:latin typeface="Calibri"/>
                <a:ea typeface="Calibri"/>
                <a:cs typeface="Calibri"/>
                <a:sym typeface="Calibri"/>
              </a:rPr>
              <a:t> and </a:t>
            </a:r>
            <a:r>
              <a:rPr b="1" lang="en-US" sz="1300">
                <a:solidFill>
                  <a:schemeClr val="dk1"/>
                </a:solidFill>
                <a:latin typeface="Calibri"/>
                <a:ea typeface="Calibri"/>
                <a:cs typeface="Calibri"/>
                <a:sym typeface="Calibri"/>
              </a:rPr>
              <a:t>7</a:t>
            </a:r>
            <a:r>
              <a:rPr b="1" lang="en-US" sz="1300">
                <a:solidFill>
                  <a:schemeClr val="dk1"/>
                </a:solidFill>
                <a:latin typeface="Calibri"/>
                <a:ea typeface="Calibri"/>
                <a:cs typeface="Calibri"/>
                <a:sym typeface="Calibri"/>
              </a:rPr>
              <a:t> ब्लॉक्स</a:t>
            </a:r>
            <a:r>
              <a:rPr lang="en-US" sz="1300">
                <a:solidFill>
                  <a:schemeClr val="dk1"/>
                </a:solidFill>
                <a:latin typeface="Calibri"/>
                <a:ea typeface="Calibri"/>
                <a:cs typeface="Calibri"/>
                <a:sym typeface="Calibri"/>
              </a:rPr>
              <a:t> beside the respective chairs to reinforce why the selected chair is taller.]</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a:t>
            </a:r>
            <a:r>
              <a:rPr lang="en-US" sz="1300">
                <a:solidFill>
                  <a:schemeClr val="dk1"/>
                </a:solidFill>
                <a:latin typeface="Calibri"/>
                <a:ea typeface="Calibri"/>
                <a:cs typeface="Calibri"/>
                <a:sym typeface="Calibri"/>
              </a:rPr>
              <a:t>“शाबाश! यह कुर्सी ज़्यादा लंबी है।”</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Feedback / Hints</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Attempt 1: </a:t>
            </a:r>
            <a:r>
              <a:rPr lang="en-US" sz="1300">
                <a:solidFill>
                  <a:schemeClr val="dk1"/>
                </a:solidFill>
                <a:latin typeface="Calibri"/>
                <a:ea typeface="Calibri"/>
                <a:cs typeface="Calibri"/>
                <a:sym typeface="Calibri"/>
              </a:rPr>
              <a:t>The incorrectly selected chair wiggles. Then sequentially highlight the blocks on </a:t>
            </a:r>
            <a:r>
              <a:rPr b="1" lang="en-US" sz="1300">
                <a:solidFill>
                  <a:schemeClr val="dk1"/>
                </a:solidFill>
                <a:latin typeface="Calibri"/>
                <a:ea typeface="Calibri"/>
                <a:cs typeface="Calibri"/>
                <a:sym typeface="Calibri"/>
              </a:rPr>
              <a:t>both chairs</a:t>
            </a:r>
            <a:r>
              <a:rPr lang="en-US" sz="1300">
                <a:solidFill>
                  <a:schemeClr val="dk1"/>
                </a:solidFill>
                <a:latin typeface="Calibri"/>
                <a:ea typeface="Calibri"/>
                <a:cs typeface="Calibri"/>
                <a:sym typeface="Calibri"/>
              </a:rPr>
              <a:t>, with counting digits appearing beside each block:</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First chair: </a:t>
            </a:r>
            <a:r>
              <a:rPr b="1" lang="en-US" sz="1300">
                <a:solidFill>
                  <a:schemeClr val="dk1"/>
                </a:solidFill>
                <a:latin typeface="Calibri"/>
                <a:ea typeface="Calibri"/>
                <a:cs typeface="Calibri"/>
                <a:sym typeface="Calibri"/>
              </a:rPr>
              <a:t>1 → 2 → 3 → 4</a:t>
            </a:r>
            <a:r>
              <a:rPr b="1" lang="en-US" sz="1300">
                <a:solidFill>
                  <a:schemeClr val="dk1"/>
                </a:solidFill>
                <a:latin typeface="Calibri"/>
                <a:ea typeface="Calibri"/>
                <a:cs typeface="Calibri"/>
                <a:sym typeface="Calibri"/>
              </a:rPr>
              <a:t>→ 5→ 6</a:t>
            </a:r>
            <a:br>
              <a:rPr lang="en-US" sz="1300">
                <a:solidFill>
                  <a:schemeClr val="dk1"/>
                </a:solidFill>
                <a:latin typeface="Calibri"/>
                <a:ea typeface="Calibri"/>
                <a:cs typeface="Calibri"/>
                <a:sym typeface="Calibri"/>
              </a:rPr>
            </a:br>
            <a:r>
              <a:rPr lang="en-US" sz="1300">
                <a:solidFill>
                  <a:schemeClr val="dk1"/>
                </a:solidFill>
                <a:latin typeface="Calibri"/>
                <a:ea typeface="Calibri"/>
                <a:cs typeface="Calibri"/>
                <a:sym typeface="Calibri"/>
              </a:rPr>
              <a:t>Second chair: </a:t>
            </a:r>
            <a:r>
              <a:rPr b="1" lang="en-US" sz="1300">
                <a:solidFill>
                  <a:schemeClr val="dk1"/>
                </a:solidFill>
                <a:latin typeface="Calibri"/>
                <a:ea typeface="Calibri"/>
                <a:cs typeface="Calibri"/>
                <a:sym typeface="Calibri"/>
              </a:rPr>
              <a:t>1 → 2 → 3 → 4 → 5</a:t>
            </a:r>
            <a:r>
              <a:rPr b="1" lang="en-US" sz="1300">
                <a:solidFill>
                  <a:schemeClr val="dk1"/>
                </a:solidFill>
                <a:latin typeface="Calibri"/>
                <a:ea typeface="Calibri"/>
                <a:cs typeface="Calibri"/>
                <a:sym typeface="Calibri"/>
              </a:rPr>
              <a:t>→ 6→ 7</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Also play the corresponding counting VO during the highlighting.</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After counting, repeat only the question: play the </a:t>
            </a:r>
            <a:r>
              <a:rPr b="1" lang="en-US" sz="1300">
                <a:solidFill>
                  <a:schemeClr val="dk1"/>
                </a:solidFill>
                <a:latin typeface="Calibri"/>
                <a:ea typeface="Calibri"/>
                <a:cs typeface="Calibri"/>
                <a:sym typeface="Calibri"/>
              </a:rPr>
              <a:t>VO: </a:t>
            </a:r>
            <a:r>
              <a:rPr lang="en-US" sz="1300">
                <a:solidFill>
                  <a:schemeClr val="dk1"/>
                </a:solidFill>
                <a:latin typeface="Calibri"/>
                <a:ea typeface="Calibri"/>
                <a:cs typeface="Calibri"/>
                <a:sym typeface="Calibri"/>
              </a:rPr>
              <a:t>“अब बताइए, कौन-सी कुर्सी ज़्यादा ऊँची है?”</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Attempt 2: </a:t>
            </a:r>
            <a:r>
              <a:rPr lang="en-US" sz="1300">
                <a:solidFill>
                  <a:schemeClr val="dk1"/>
                </a:solidFill>
                <a:latin typeface="Calibri"/>
                <a:ea typeface="Calibri"/>
                <a:cs typeface="Calibri"/>
                <a:sym typeface="Calibri"/>
              </a:rPr>
              <a:t>Show a </a:t>
            </a:r>
            <a:r>
              <a:rPr b="1" lang="en-US" sz="1300">
                <a:solidFill>
                  <a:schemeClr val="dk1"/>
                </a:solidFill>
                <a:latin typeface="Calibri"/>
                <a:ea typeface="Calibri"/>
                <a:cs typeface="Calibri"/>
                <a:sym typeface="Calibri"/>
              </a:rPr>
              <a:t>hand-nudge</a:t>
            </a:r>
            <a:r>
              <a:rPr lang="en-US" sz="1300">
                <a:solidFill>
                  <a:schemeClr val="dk1"/>
                </a:solidFill>
                <a:latin typeface="Calibri"/>
                <a:ea typeface="Calibri"/>
                <a:cs typeface="Calibri"/>
                <a:sym typeface="Calibri"/>
              </a:rPr>
              <a:t> on the correct chair. When the child taps it, play the SFX used for the correct response.</a:t>
            </a:r>
            <a:endParaRPr/>
          </a:p>
        </p:txBody>
      </p:sp>
      <p:pic>
        <p:nvPicPr>
          <p:cNvPr id="176" name="Google Shape;176;p12"/>
          <p:cNvPicPr preferRelativeResize="0"/>
          <p:nvPr/>
        </p:nvPicPr>
        <p:blipFill rotWithShape="1">
          <a:blip r:embed="rId4">
            <a:alphaModFix/>
          </a:blip>
          <a:srcRect b="0" l="0" r="0" t="0"/>
          <a:stretch/>
        </p:blipFill>
        <p:spPr>
          <a:xfrm>
            <a:off x="365760" y="3502152"/>
            <a:ext cx="4828032" cy="3218688"/>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0" name="Shape 180"/>
        <p:cNvGrpSpPr/>
        <p:nvPr/>
      </p:nvGrpSpPr>
      <p:grpSpPr>
        <a:xfrm>
          <a:off x="0" y="0"/>
          <a:ext cx="0" cy="0"/>
          <a:chOff x="0" y="0"/>
          <a:chExt cx="0" cy="0"/>
        </a:xfrm>
      </p:grpSpPr>
      <p:sp>
        <p:nvSpPr>
          <p:cNvPr id="181" name="Google Shape;181;p13"/>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10 · 10_COUNT_HOW_MANY.png</a:t>
            </a:r>
            <a:endParaRPr/>
          </a:p>
        </p:txBody>
      </p:sp>
      <p:pic>
        <p:nvPicPr>
          <p:cNvPr descr="10_COUNT_HOW_MANY.png" id="182" name="Google Shape;182;p13"/>
          <p:cNvPicPr preferRelativeResize="0"/>
          <p:nvPr/>
        </p:nvPicPr>
        <p:blipFill rotWithShape="1">
          <a:blip r:embed="rId3">
            <a:alphaModFix/>
          </a:blip>
          <a:srcRect b="0" l="0" r="0" t="0"/>
          <a:stretch/>
        </p:blipFill>
        <p:spPr>
          <a:xfrm>
            <a:off x="365760" y="731521"/>
            <a:ext cx="5473592" cy="3063240"/>
          </a:xfrm>
          <a:prstGeom prst="rect">
            <a:avLst/>
          </a:prstGeom>
          <a:noFill/>
          <a:ln>
            <a:noFill/>
          </a:ln>
        </p:spPr>
      </p:pic>
      <p:sp>
        <p:nvSpPr>
          <p:cNvPr id="183" name="Google Shape;183;p13"/>
          <p:cNvSpPr txBox="1"/>
          <p:nvPr/>
        </p:nvSpPr>
        <p:spPr>
          <a:xfrm>
            <a:off x="6190488" y="782121"/>
            <a:ext cx="5635752" cy="5493812"/>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0B3D8C"/>
                </a:solidFill>
                <a:latin typeface="Calibri"/>
                <a:ea typeface="Calibri"/>
                <a:cs typeface="Calibri"/>
                <a:sym typeface="Calibri"/>
              </a:rPr>
              <a:t>Recommendations</a:t>
            </a:r>
            <a:endParaRPr b="1" sz="1300">
              <a:solidFill>
                <a:srgbClr val="0B3D8C"/>
              </a:solidFill>
              <a:latin typeface="Calibri"/>
              <a:ea typeface="Calibri"/>
              <a:cs typeface="Calibri"/>
              <a:sym typeface="Calibri"/>
            </a:endParaRPr>
          </a:p>
          <a:p>
            <a:pPr indent="0" lvl="0" marL="0" marR="0" rtl="0" algn="l">
              <a:spcBef>
                <a:spcPts val="0"/>
              </a:spcBef>
              <a:spcAft>
                <a:spcPts val="0"/>
              </a:spcAft>
              <a:buNone/>
            </a:pPr>
            <a:r>
              <a:t/>
            </a:r>
            <a:endParaRPr b="1" sz="1300">
              <a:solidFill>
                <a:srgbClr val="0B3D8C"/>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Instruction OST: हर चीज़ को उसके सही माप से मिलाइए।</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a:t>
            </a:r>
            <a:r>
              <a:rPr lang="en-US" sz="1300">
                <a:solidFill>
                  <a:schemeClr val="dk1"/>
                </a:solidFill>
                <a:latin typeface="Calibri"/>
                <a:ea typeface="Calibri"/>
                <a:cs typeface="Calibri"/>
                <a:sym typeface="Calibri"/>
              </a:rPr>
              <a:t>“हर चीज़ को उसके सही माप से मिलाइए।”</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Visual Setup: </a:t>
            </a:r>
            <a:r>
              <a:rPr lang="en-US" sz="1300">
                <a:solidFill>
                  <a:schemeClr val="dk1"/>
                </a:solidFill>
                <a:latin typeface="Calibri"/>
                <a:ea typeface="Calibri"/>
                <a:cs typeface="Calibri"/>
                <a:sym typeface="Calibri"/>
              </a:rPr>
              <a:t>Show three objects on the left with blocks already placed:</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बेंच — 7 ब्लॉक्स</a:t>
            </a:r>
            <a:r>
              <a:rPr lang="en-US" sz="1300">
                <a:solidFill>
                  <a:schemeClr val="dk1"/>
                </a:solidFill>
                <a:latin typeface="Calibri"/>
                <a:ea typeface="Calibri"/>
                <a:cs typeface="Calibri"/>
                <a:sym typeface="Calibri"/>
              </a:rPr>
              <a:t>, placed horizontally along its longer side.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ब्लैकबोर्ड — 5 ब्लॉक्स</a:t>
            </a:r>
            <a:r>
              <a:rPr lang="en-US" sz="1300">
                <a:solidFill>
                  <a:schemeClr val="dk1"/>
                </a:solidFill>
                <a:latin typeface="Calibri"/>
                <a:ea typeface="Calibri"/>
                <a:cs typeface="Calibri"/>
                <a:sym typeface="Calibri"/>
              </a:rPr>
              <a:t>, placed horizontally along its longer side.</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स्टूल — 3 ब्लॉक्स</a:t>
            </a:r>
            <a:r>
              <a:rPr lang="en-US" sz="1300">
                <a:solidFill>
                  <a:schemeClr val="dk1"/>
                </a:solidFill>
                <a:latin typeface="Calibri"/>
                <a:ea typeface="Calibri"/>
                <a:cs typeface="Calibri"/>
                <a:sym typeface="Calibri"/>
              </a:rPr>
              <a:t>, placed vertically from bottom to top to represent its height.</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For the actual artwork, scale the objects so the number of blocks looks visually plausible rather than showing them at realistic relative sizes.</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On the right, show three shuffled measurement boxes:</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3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7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5 ब्लॉक्स</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Interaction: </a:t>
            </a:r>
            <a:r>
              <a:rPr lang="en-US" sz="1300">
                <a:solidFill>
                  <a:schemeClr val="dk1"/>
                </a:solidFill>
                <a:latin typeface="Calibri"/>
                <a:ea typeface="Calibri"/>
                <a:cs typeface="Calibri"/>
                <a:sym typeface="Calibri"/>
              </a:rPr>
              <a:t>Matches each object with its correct measurement.</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Match: </a:t>
            </a:r>
            <a:r>
              <a:rPr lang="en-US" sz="1300">
                <a:solidFill>
                  <a:schemeClr val="dk1"/>
                </a:solidFill>
                <a:latin typeface="Calibri"/>
                <a:ea typeface="Calibri"/>
                <a:cs typeface="Calibri"/>
                <a:sym typeface="Calibri"/>
              </a:rPr>
              <a:t>Lock the connection and play a positive SFX.</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On completing all three: </a:t>
            </a:r>
            <a:r>
              <a:rPr lang="en-US" sz="1300">
                <a:solidFill>
                  <a:schemeClr val="dk1"/>
                </a:solidFill>
                <a:latin typeface="Calibri"/>
                <a:ea typeface="Calibri"/>
                <a:cs typeface="Calibri"/>
                <a:sym typeface="Calibri"/>
              </a:rPr>
              <a:t>“शाबाश! आपने सभी चीज़ों को उनके सही माप से मिला दिया।”</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Feedback/Hint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Attempt 1: </a:t>
            </a:r>
            <a:r>
              <a:rPr lang="en-US" sz="1300">
                <a:solidFill>
                  <a:schemeClr val="dk1"/>
                </a:solidFill>
                <a:latin typeface="Calibri"/>
                <a:ea typeface="Calibri"/>
                <a:cs typeface="Calibri"/>
                <a:sym typeface="Calibri"/>
              </a:rPr>
              <a:t>Bounce the incorrect match back.</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Attempt 2: </a:t>
            </a:r>
            <a:r>
              <a:rPr lang="en-US" sz="1300">
                <a:solidFill>
                  <a:schemeClr val="dk1"/>
                </a:solidFill>
                <a:latin typeface="Calibri"/>
                <a:ea typeface="Calibri"/>
                <a:cs typeface="Calibri"/>
                <a:sym typeface="Calibri"/>
              </a:rPr>
              <a:t>Sequentially highlight each block on that object and show the counting digits </a:t>
            </a:r>
            <a:r>
              <a:rPr b="1" lang="en-US" sz="1300">
                <a:solidFill>
                  <a:schemeClr val="dk1"/>
                </a:solidFill>
                <a:latin typeface="Calibri"/>
                <a:ea typeface="Calibri"/>
                <a:cs typeface="Calibri"/>
                <a:sym typeface="Calibri"/>
              </a:rPr>
              <a:t>1, 2, 3…</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Attempt 3: </a:t>
            </a:r>
            <a:r>
              <a:rPr lang="en-US" sz="1300">
                <a:solidFill>
                  <a:schemeClr val="dk1"/>
                </a:solidFill>
                <a:latin typeface="Calibri"/>
                <a:ea typeface="Calibri"/>
                <a:cs typeface="Calibri"/>
                <a:sym typeface="Calibri"/>
              </a:rPr>
              <a:t>Show a hand nudge on the correct measurement box.</a:t>
            </a:r>
            <a:endParaRPr/>
          </a:p>
        </p:txBody>
      </p:sp>
      <p:pic>
        <p:nvPicPr>
          <p:cNvPr descr="A screenshot of a game&#10;&#10;AI-generated content may be incorrect." id="184" name="Google Shape;184;p13"/>
          <p:cNvPicPr preferRelativeResize="0"/>
          <p:nvPr/>
        </p:nvPicPr>
        <p:blipFill rotWithShape="1">
          <a:blip r:embed="rId4">
            <a:alphaModFix/>
          </a:blip>
          <a:srcRect b="0" l="0" r="0" t="0"/>
          <a:stretch/>
        </p:blipFill>
        <p:spPr>
          <a:xfrm>
            <a:off x="292608" y="3071779"/>
            <a:ext cx="5473592" cy="36490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14"/>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11 · 11_MAKE_SET.png</a:t>
            </a:r>
            <a:endParaRPr/>
          </a:p>
        </p:txBody>
      </p:sp>
      <p:pic>
        <p:nvPicPr>
          <p:cNvPr descr="11_MAKE_SET.png" id="190" name="Google Shape;190;p14"/>
          <p:cNvPicPr preferRelativeResize="0"/>
          <p:nvPr/>
        </p:nvPicPr>
        <p:blipFill rotWithShape="1">
          <a:blip r:embed="rId3">
            <a:alphaModFix/>
          </a:blip>
          <a:srcRect b="0" l="0" r="0" t="0"/>
          <a:stretch/>
        </p:blipFill>
        <p:spPr>
          <a:xfrm>
            <a:off x="365760" y="731521"/>
            <a:ext cx="5016098" cy="2807208"/>
          </a:xfrm>
          <a:prstGeom prst="rect">
            <a:avLst/>
          </a:prstGeom>
          <a:noFill/>
          <a:ln>
            <a:noFill/>
          </a:ln>
        </p:spPr>
      </p:pic>
      <p:sp>
        <p:nvSpPr>
          <p:cNvPr id="191" name="Google Shape;191;p14"/>
          <p:cNvSpPr txBox="1"/>
          <p:nvPr/>
        </p:nvSpPr>
        <p:spPr>
          <a:xfrm>
            <a:off x="5761025" y="731521"/>
            <a:ext cx="6065100" cy="5110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300">
                <a:solidFill>
                  <a:srgbClr val="0B3D8C"/>
                </a:solidFill>
                <a:latin typeface="Calibri"/>
                <a:ea typeface="Calibri"/>
                <a:cs typeface="Calibri"/>
                <a:sym typeface="Calibri"/>
              </a:rPr>
              <a:t>Recommendations</a:t>
            </a:r>
            <a:endParaRPr b="1" sz="1300">
              <a:solidFill>
                <a:srgbClr val="0B3D8C"/>
              </a:solidFill>
              <a:latin typeface="Calibri"/>
              <a:ea typeface="Calibri"/>
              <a:cs typeface="Calibri"/>
              <a:sym typeface="Calibri"/>
            </a:endParaRPr>
          </a:p>
          <a:p>
            <a:pPr indent="0" lvl="0" marL="0" marR="0" rtl="0" algn="l">
              <a:spcBef>
                <a:spcPts val="0"/>
              </a:spcBef>
              <a:spcAft>
                <a:spcPts val="0"/>
              </a:spcAft>
              <a:buNone/>
            </a:pPr>
            <a:r>
              <a:t/>
            </a:r>
            <a:endParaRPr sz="14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Instruction OST: हर चीज़ को उसके सही माप से मिलाइए।</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VO: </a:t>
            </a:r>
            <a:r>
              <a:rPr lang="en-US" sz="1300">
                <a:solidFill>
                  <a:schemeClr val="dk1"/>
                </a:solidFill>
                <a:latin typeface="Calibri"/>
                <a:ea typeface="Calibri"/>
                <a:cs typeface="Calibri"/>
                <a:sym typeface="Calibri"/>
              </a:rPr>
              <a:t>“हर चीज़ को उसके सही माप से मिलाइए।”</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Visual Setup: </a:t>
            </a:r>
            <a:r>
              <a:rPr lang="en-US" sz="1300">
                <a:solidFill>
                  <a:schemeClr val="dk1"/>
                </a:solidFill>
                <a:latin typeface="Calibri"/>
                <a:ea typeface="Calibri"/>
                <a:cs typeface="Calibri"/>
                <a:sym typeface="Calibri"/>
              </a:rPr>
              <a:t>Show three objects on the left with blocks already placed:</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खिड़की — 5 ब्लॉक्स</a:t>
            </a:r>
            <a:r>
              <a:rPr lang="en-US" sz="1300">
                <a:solidFill>
                  <a:schemeClr val="dk1"/>
                </a:solidFill>
                <a:latin typeface="Calibri"/>
                <a:ea typeface="Calibri"/>
                <a:cs typeface="Calibri"/>
                <a:sym typeface="Calibri"/>
              </a:rPr>
              <a:t>, placed vertically from bottom to top to represent its height.</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पानी की बोतल — 4 ब्लॉक्स</a:t>
            </a:r>
            <a:r>
              <a:rPr lang="en-US" sz="1300">
                <a:solidFill>
                  <a:schemeClr val="dk1"/>
                </a:solidFill>
                <a:latin typeface="Calibri"/>
                <a:ea typeface="Calibri"/>
                <a:cs typeface="Calibri"/>
                <a:sym typeface="Calibri"/>
              </a:rPr>
              <a:t>, placed vertically from bottom to top to represent its height.</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टीवी — 6 ब्लॉक्स</a:t>
            </a:r>
            <a:r>
              <a:rPr lang="en-US" sz="1300">
                <a:solidFill>
                  <a:schemeClr val="dk1"/>
                </a:solidFill>
                <a:latin typeface="Calibri"/>
                <a:ea typeface="Calibri"/>
                <a:cs typeface="Calibri"/>
                <a:sym typeface="Calibri"/>
              </a:rPr>
              <a:t>, placed horizontally along its longer side to represent its length.</a:t>
            </a:r>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For the actual artwork, scale the objects so the number of blocks looks visually plausible rather than showing them at realistic relative sizes.</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lang="en-US" sz="1300">
                <a:solidFill>
                  <a:schemeClr val="dk1"/>
                </a:solidFill>
                <a:latin typeface="Calibri"/>
                <a:ea typeface="Calibri"/>
                <a:cs typeface="Calibri"/>
                <a:sym typeface="Calibri"/>
              </a:rPr>
              <a:t>On the right, show three shuffled measurement boxes:</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5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4 ब्लॉक्स</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6</a:t>
            </a:r>
            <a:r>
              <a:rPr b="1" lang="en-US" sz="1300">
                <a:solidFill>
                  <a:schemeClr val="dk1"/>
                </a:solidFill>
                <a:latin typeface="Calibri"/>
                <a:ea typeface="Calibri"/>
                <a:cs typeface="Calibri"/>
                <a:sym typeface="Calibri"/>
              </a:rPr>
              <a:t> ब्लॉक्स</a:t>
            </a:r>
            <a:endParaRPr b="1" sz="1300">
              <a:solidFill>
                <a:schemeClr val="dk1"/>
              </a:solidFill>
              <a:latin typeface="Calibri"/>
              <a:ea typeface="Calibri"/>
              <a:cs typeface="Calibri"/>
              <a:sym typeface="Calibri"/>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Child Interaction: </a:t>
            </a:r>
            <a:r>
              <a:rPr lang="en-US" sz="1300">
                <a:solidFill>
                  <a:schemeClr val="dk1"/>
                </a:solidFill>
                <a:latin typeface="Calibri"/>
                <a:ea typeface="Calibri"/>
                <a:cs typeface="Calibri"/>
                <a:sym typeface="Calibri"/>
              </a:rPr>
              <a:t>Matches each object with its correct measurement.</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Correct Match: </a:t>
            </a:r>
            <a:r>
              <a:rPr lang="en-US" sz="1300">
                <a:solidFill>
                  <a:schemeClr val="dk1"/>
                </a:solidFill>
                <a:latin typeface="Calibri"/>
                <a:ea typeface="Calibri"/>
                <a:cs typeface="Calibri"/>
                <a:sym typeface="Calibri"/>
              </a:rPr>
              <a:t>Lock the connection and play a positive SFX.</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On completing all three: </a:t>
            </a:r>
            <a:r>
              <a:rPr lang="en-US" sz="1300">
                <a:solidFill>
                  <a:schemeClr val="dk1"/>
                </a:solidFill>
                <a:latin typeface="Calibri"/>
                <a:ea typeface="Calibri"/>
                <a:cs typeface="Calibri"/>
                <a:sym typeface="Calibri"/>
              </a:rPr>
              <a:t>“शाबाश! आपने सभी चीज़ों को उनके सही माप से मिला दिया।”</a:t>
            </a:r>
            <a:endParaRPr/>
          </a:p>
          <a:p>
            <a:pPr indent="0" lvl="0" marL="0" marR="0" rtl="0" algn="l">
              <a:spcBef>
                <a:spcPts val="0"/>
              </a:spcBef>
              <a:spcAft>
                <a:spcPts val="0"/>
              </a:spcAft>
              <a:buNone/>
            </a:pPr>
            <a:r>
              <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Feedback/Hint</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Attempt 1: </a:t>
            </a:r>
            <a:r>
              <a:rPr lang="en-US" sz="1300">
                <a:solidFill>
                  <a:schemeClr val="dk1"/>
                </a:solidFill>
                <a:latin typeface="Calibri"/>
                <a:ea typeface="Calibri"/>
                <a:cs typeface="Calibri"/>
                <a:sym typeface="Calibri"/>
              </a:rPr>
              <a:t>Bounce the incorrect match back.</a:t>
            </a:r>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Attempt 2: </a:t>
            </a:r>
            <a:r>
              <a:rPr lang="en-US" sz="1300">
                <a:solidFill>
                  <a:schemeClr val="dk1"/>
                </a:solidFill>
                <a:latin typeface="Calibri"/>
                <a:ea typeface="Calibri"/>
                <a:cs typeface="Calibri"/>
                <a:sym typeface="Calibri"/>
              </a:rPr>
              <a:t>Sequentially highlight each block on that object and show the counting digits </a:t>
            </a:r>
            <a:r>
              <a:rPr b="1" lang="en-US" sz="1300">
                <a:solidFill>
                  <a:schemeClr val="dk1"/>
                </a:solidFill>
                <a:latin typeface="Calibri"/>
                <a:ea typeface="Calibri"/>
                <a:cs typeface="Calibri"/>
                <a:sym typeface="Calibri"/>
              </a:rPr>
              <a:t>1, 2, 3…</a:t>
            </a:r>
            <a:endParaRPr sz="1300">
              <a:solidFill>
                <a:schemeClr val="dk1"/>
              </a:solidFill>
              <a:latin typeface="Calibri"/>
              <a:ea typeface="Calibri"/>
              <a:cs typeface="Calibri"/>
              <a:sym typeface="Calibri"/>
            </a:endParaRPr>
          </a:p>
          <a:p>
            <a:pPr indent="0" lvl="0" marL="0" marR="0" rtl="0" algn="l">
              <a:spcBef>
                <a:spcPts val="0"/>
              </a:spcBef>
              <a:spcAft>
                <a:spcPts val="0"/>
              </a:spcAft>
              <a:buNone/>
            </a:pPr>
            <a:r>
              <a:rPr b="1" lang="en-US" sz="1300">
                <a:solidFill>
                  <a:schemeClr val="dk1"/>
                </a:solidFill>
                <a:latin typeface="Calibri"/>
                <a:ea typeface="Calibri"/>
                <a:cs typeface="Calibri"/>
                <a:sym typeface="Calibri"/>
              </a:rPr>
              <a:t>Wrong Attempt 3: </a:t>
            </a:r>
            <a:r>
              <a:rPr lang="en-US" sz="1300">
                <a:solidFill>
                  <a:schemeClr val="dk1"/>
                </a:solidFill>
                <a:latin typeface="Calibri"/>
                <a:ea typeface="Calibri"/>
                <a:cs typeface="Calibri"/>
                <a:sym typeface="Calibri"/>
              </a:rPr>
              <a:t>Show a </a:t>
            </a:r>
            <a:r>
              <a:rPr b="1" lang="en-US" sz="1300">
                <a:solidFill>
                  <a:schemeClr val="dk1"/>
                </a:solidFill>
                <a:latin typeface="Calibri"/>
                <a:ea typeface="Calibri"/>
                <a:cs typeface="Calibri"/>
                <a:sym typeface="Calibri"/>
              </a:rPr>
              <a:t>hand nudge</a:t>
            </a:r>
            <a:r>
              <a:rPr lang="en-US" sz="1300">
                <a:solidFill>
                  <a:schemeClr val="dk1"/>
                </a:solidFill>
                <a:latin typeface="Calibri"/>
                <a:ea typeface="Calibri"/>
                <a:cs typeface="Calibri"/>
                <a:sym typeface="Calibri"/>
              </a:rPr>
              <a:t> on the correct measurement box.</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15"/>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12 · 12_COUNT_HOW_MANY.png</a:t>
            </a:r>
            <a:endParaRPr/>
          </a:p>
        </p:txBody>
      </p:sp>
      <p:sp>
        <p:nvSpPr>
          <p:cNvPr id="197" name="Google Shape;197;p15"/>
          <p:cNvSpPr/>
          <p:nvPr/>
        </p:nvSpPr>
        <p:spPr>
          <a:xfrm>
            <a:off x="0" y="457200"/>
            <a:ext cx="12192000" cy="15875"/>
          </a:xfrm>
          <a:prstGeom prst="rect">
            <a:avLst/>
          </a:prstGeom>
          <a:solidFill>
            <a:srgbClr val="000000"/>
          </a:solidFill>
          <a:ln cap="flat" cmpd="sng" w="9525">
            <a:solidFill>
              <a:schemeClr val="dk1"/>
            </a:solidFill>
            <a:prstDash val="solid"/>
            <a:miter lim="8000"/>
            <a:headEnd len="sm" w="sm" type="none"/>
            <a:tailEnd len="sm" w="sm" type="none"/>
          </a:ln>
        </p:spPr>
        <p:txBody>
          <a:bodyPr anchorCtr="0" anchor="ctr" bIns="45700" lIns="91425" spcFirstLastPara="1" rIns="91425" wrap="square" tIns="45700">
            <a:spAutoFit/>
          </a:bodyPr>
          <a:lstStyle/>
          <a:p>
            <a:pPr indent="0" lvl="0" marL="0" marR="0" rtl="0" algn="l">
              <a:spcBef>
                <a:spcPts val="0"/>
              </a:spcBef>
              <a:spcAft>
                <a:spcPts val="0"/>
              </a:spcAft>
              <a:buNone/>
            </a:pPr>
            <a:r>
              <a:t/>
            </a:r>
            <a:endParaRPr sz="1800">
              <a:solidFill>
                <a:schemeClr val="dk1"/>
              </a:solidFill>
              <a:latin typeface="Calibri"/>
              <a:ea typeface="Calibri"/>
              <a:cs typeface="Calibri"/>
              <a:sym typeface="Calibri"/>
            </a:endParaRPr>
          </a:p>
        </p:txBody>
      </p:sp>
      <p:pic>
        <p:nvPicPr>
          <p:cNvPr descr="A screenshot of a video game&#10;&#10;AI-generated content may be incorrect." id="198" name="Google Shape;198;p15"/>
          <p:cNvPicPr preferRelativeResize="0"/>
          <p:nvPr/>
        </p:nvPicPr>
        <p:blipFill rotWithShape="1">
          <a:blip r:embed="rId3">
            <a:alphaModFix/>
          </a:blip>
          <a:srcRect b="0" l="0" r="0" t="0"/>
          <a:stretch/>
        </p:blipFill>
        <p:spPr>
          <a:xfrm>
            <a:off x="1364742" y="558800"/>
            <a:ext cx="9462516" cy="6308344"/>
          </a:xfrm>
          <a:prstGeom prst="rect">
            <a:avLst/>
          </a:prstGeom>
          <a:noFill/>
          <a:ln>
            <a:noFill/>
          </a:ln>
        </p:spPr>
      </p:pic>
      <p:sp>
        <p:nvSpPr>
          <p:cNvPr id="199" name="Google Shape;199;p15"/>
          <p:cNvSpPr txBox="1"/>
          <p:nvPr/>
        </p:nvSpPr>
        <p:spPr>
          <a:xfrm>
            <a:off x="5563642" y="17292"/>
            <a:ext cx="1064715" cy="52322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800">
                <a:solidFill>
                  <a:srgbClr val="FF0000"/>
                </a:solidFill>
                <a:latin typeface="Calibri"/>
                <a:ea typeface="Calibri"/>
                <a:cs typeface="Calibri"/>
                <a:sym typeface="Calibri"/>
              </a:rPr>
              <a:t>Game</a:t>
            </a:r>
            <a:endParaRPr b="1" sz="2800">
              <a:solidFill>
                <a:srgbClr val="FF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h17ada4ddaaa32a3c_0_0"/>
          <p:cNvSpPr txBox="1"/>
          <p:nvPr/>
        </p:nvSpPr>
        <p:spPr>
          <a:xfrm>
            <a:off x="365760" y="137160"/>
            <a:ext cx="7680900" cy="3078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13 · 13_COUNT_HOW_MANY.png</a:t>
            </a:r>
            <a:endParaRPr/>
          </a:p>
        </p:txBody>
      </p:sp>
      <p:sp>
        <p:nvSpPr>
          <p:cNvPr id="205" name="Google Shape;205;h17ada4ddaaa32a3c_0_0"/>
          <p:cNvSpPr txBox="1"/>
          <p:nvPr/>
        </p:nvSpPr>
        <p:spPr>
          <a:xfrm>
            <a:off x="0" y="812550"/>
            <a:ext cx="3000000" cy="5232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dk1"/>
                </a:solidFill>
              </a:rPr>
              <a:t>Intro VO</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“आज हमें कक्षा सजानी है! हर चीज़ अपनी सही जगह पर ही फिट होगी। ब्लॉक से मापिए और सही जगह चुनिए।”</a:t>
            </a:r>
            <a:endParaRPr sz="1100">
              <a:solidFill>
                <a:schemeClr val="dk1"/>
              </a:solidFill>
            </a:endParaRPr>
          </a:p>
          <a:p>
            <a:pPr indent="0" lvl="0" marL="0" rtl="0" algn="l">
              <a:lnSpc>
                <a:spcPct val="115000"/>
              </a:lnSpc>
              <a:spcBef>
                <a:spcPts val="1400"/>
              </a:spcBef>
              <a:spcAft>
                <a:spcPts val="0"/>
              </a:spcAft>
              <a:buNone/>
            </a:pPr>
            <a:r>
              <a:rPr b="1" lang="en-US" sz="1100">
                <a:solidFill>
                  <a:schemeClr val="dk1"/>
                </a:solidFill>
              </a:rPr>
              <a:t>Visual Setup: </a:t>
            </a:r>
            <a:r>
              <a:rPr lang="en-US" sz="1100">
                <a:solidFill>
                  <a:schemeClr val="dk1"/>
                </a:solidFill>
              </a:rPr>
              <a:t>Show the classroom in the </a:t>
            </a:r>
            <a:r>
              <a:rPr b="1" lang="en-US" sz="1100">
                <a:solidFill>
                  <a:schemeClr val="dk1"/>
                </a:solidFill>
              </a:rPr>
              <a:t>upper part of the screen</a:t>
            </a:r>
            <a:r>
              <a:rPr lang="en-US" sz="1100">
                <a:solidFill>
                  <a:schemeClr val="dk1"/>
                </a:solidFill>
              </a:rPr>
              <a:t>, with four empty placement spaces of different measurements.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Space 1: 6 blocks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Space 2: 9 blocks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Space 3: 11 blocks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Space 4: 7 blocks</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Display the measurements inside the spaces. Do not show individual blocks inside the spaces. At the </a:t>
            </a:r>
            <a:r>
              <a:rPr b="1" lang="en-US" sz="1100">
                <a:solidFill>
                  <a:schemeClr val="dk1"/>
                </a:solidFill>
              </a:rPr>
              <a:t>bottom of the screen</a:t>
            </a:r>
            <a:r>
              <a:rPr lang="en-US" sz="1100">
                <a:solidFill>
                  <a:schemeClr val="dk1"/>
                </a:solidFill>
              </a:rPr>
              <a:t>, show four objects in a tray:</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बेंच</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अलमारी</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कुर्सी</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ब्लैकबोर्ड</a:t>
            </a:r>
            <a:endParaRPr sz="1100">
              <a:solidFill>
                <a:schemeClr val="dk1"/>
              </a:solidFill>
            </a:endParaRPr>
          </a:p>
          <a:p>
            <a:pPr indent="0" lvl="0" marL="0" rtl="0" algn="l">
              <a:lnSpc>
                <a:spcPct val="115000"/>
              </a:lnSpc>
              <a:spcBef>
                <a:spcPts val="1200"/>
              </a:spcBef>
              <a:spcAft>
                <a:spcPts val="1200"/>
              </a:spcAft>
              <a:buNone/>
            </a:pPr>
            <a:r>
              <a:rPr lang="en-US" sz="1100">
                <a:solidFill>
                  <a:schemeClr val="dk1"/>
                </a:solidFill>
              </a:rPr>
              <a:t>The child can select any object to begin</a:t>
            </a:r>
            <a:r>
              <a:rPr lang="en-US" sz="1100">
                <a:solidFill>
                  <a:schemeClr val="dk1"/>
                </a:solidFill>
              </a:rPr>
              <a:t>.</a:t>
            </a:r>
            <a:endParaRPr sz="1100">
              <a:solidFill>
                <a:schemeClr val="dk1"/>
              </a:solidFill>
            </a:endParaRPr>
          </a:p>
        </p:txBody>
      </p:sp>
      <p:sp>
        <p:nvSpPr>
          <p:cNvPr id="206" name="Google Shape;206;h17ada4ddaaa32a3c_0_0"/>
          <p:cNvSpPr txBox="1"/>
          <p:nvPr/>
        </p:nvSpPr>
        <p:spPr>
          <a:xfrm>
            <a:off x="3072000" y="812550"/>
            <a:ext cx="3000000" cy="57861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dk1"/>
                </a:solidFill>
              </a:rPr>
              <a:t>Step 1: Select and measure an object</a:t>
            </a:r>
            <a:endParaRPr b="1" sz="1300">
              <a:solidFill>
                <a:schemeClr val="dk1"/>
              </a:solidFill>
            </a:endParaRPr>
          </a:p>
          <a:p>
            <a:pPr indent="0" lvl="0" marL="0" rtl="0" algn="l">
              <a:lnSpc>
                <a:spcPct val="115000"/>
              </a:lnSpc>
              <a:spcBef>
                <a:spcPts val="1200"/>
              </a:spcBef>
              <a:spcAft>
                <a:spcPts val="0"/>
              </a:spcAft>
              <a:buNone/>
            </a:pPr>
            <a:r>
              <a:rPr b="1" lang="en-US" sz="1100">
                <a:solidFill>
                  <a:schemeClr val="dk1"/>
                </a:solidFill>
              </a:rPr>
              <a:t>Child Action:</a:t>
            </a:r>
            <a:r>
              <a:rPr lang="en-US" sz="1100">
                <a:solidFill>
                  <a:schemeClr val="dk1"/>
                </a:solidFill>
              </a:rPr>
              <a:t> The child taps any object from the tray.</a:t>
            </a:r>
            <a:endParaRPr sz="1100">
              <a:solidFill>
                <a:schemeClr val="dk1"/>
              </a:solidFill>
            </a:endParaRPr>
          </a:p>
          <a:p>
            <a:pPr indent="0" lvl="0" marL="0" rtl="0" algn="l">
              <a:lnSpc>
                <a:spcPct val="115000"/>
              </a:lnSpc>
              <a:spcBef>
                <a:spcPts val="1200"/>
              </a:spcBef>
              <a:spcAft>
                <a:spcPts val="0"/>
              </a:spcAft>
              <a:buNone/>
            </a:pPr>
            <a:r>
              <a:rPr lang="en-US" sz="1100">
                <a:solidFill>
                  <a:schemeClr val="dk1"/>
                </a:solidFill>
              </a:rPr>
              <a:t>For example, </a:t>
            </a:r>
            <a:r>
              <a:rPr b="1" lang="en-US" sz="1100">
                <a:solidFill>
                  <a:schemeClr val="dk1"/>
                </a:solidFill>
              </a:rPr>
              <a:t>बेंच</a:t>
            </a:r>
            <a:r>
              <a:rPr lang="en-US" sz="1100">
                <a:solidFill>
                  <a:schemeClr val="dk1"/>
                </a:solidFill>
              </a:rPr>
              <a:t>.</a:t>
            </a:r>
            <a:endParaRPr sz="1100">
              <a:solidFill>
                <a:schemeClr val="dk1"/>
              </a:solidFill>
            </a:endParaRPr>
          </a:p>
          <a:p>
            <a:pPr indent="0" lvl="0" marL="0" rtl="0" algn="l">
              <a:lnSpc>
                <a:spcPct val="115000"/>
              </a:lnSpc>
              <a:spcBef>
                <a:spcPts val="1200"/>
              </a:spcBef>
              <a:spcAft>
                <a:spcPts val="0"/>
              </a:spcAft>
              <a:buNone/>
            </a:pPr>
            <a:r>
              <a:rPr i="1" lang="en-US" sz="1100">
                <a:solidFill>
                  <a:schemeClr val="dk1"/>
                </a:solidFill>
              </a:rPr>
              <a:t>[Enlarge the selected bench in the centre of the screen and fade out the classroom in the background. Show a block at the source position.]</a:t>
            </a:r>
            <a:endParaRPr i="1"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VO1:</a:t>
            </a:r>
            <a:r>
              <a:rPr lang="en-US" sz="1100">
                <a:solidFill>
                  <a:schemeClr val="dk1"/>
                </a:solidFill>
              </a:rPr>
              <a:t> बेंच को ब्लॉक से मापिए। </a:t>
            </a:r>
            <a:r>
              <a:rPr i="1" lang="en-US" sz="1100">
                <a:solidFill>
                  <a:schemeClr val="dk1"/>
                </a:solidFill>
              </a:rPr>
              <a:t>[The child drags and places blocks one by one along the bench, from one end to the other, without gaps or overlaps.]</a:t>
            </a:r>
            <a:endParaRPr i="1"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Independent Practice Rules:</a:t>
            </a:r>
            <a:endParaRPr b="1" sz="1100">
              <a:solidFill>
                <a:schemeClr val="dk1"/>
              </a:solidFill>
            </a:endParaRPr>
          </a:p>
          <a:p>
            <a:pPr indent="-298450" lvl="0" marL="457200" rtl="0" algn="l">
              <a:lnSpc>
                <a:spcPct val="115000"/>
              </a:lnSpc>
              <a:spcBef>
                <a:spcPts val="1200"/>
              </a:spcBef>
              <a:spcAft>
                <a:spcPts val="0"/>
              </a:spcAft>
              <a:buClr>
                <a:schemeClr val="dk1"/>
              </a:buClr>
              <a:buSzPts val="1100"/>
              <a:buChar char="●"/>
            </a:pPr>
            <a:r>
              <a:rPr lang="en-US" sz="1100">
                <a:solidFill>
                  <a:schemeClr val="dk1"/>
                </a:solidFill>
              </a:rPr>
              <a:t>No ghost-drag animation.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No starting-point pulse.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No counting VO.</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No hints or highlighted target positions.</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US" sz="1100">
                <a:solidFill>
                  <a:schemeClr val="dk1"/>
                </a:solidFill>
              </a:rPr>
              <a:t>No step-by-step guidance.</a:t>
            </a:r>
            <a:endParaRPr sz="1100">
              <a:solidFill>
                <a:schemeClr val="dk1"/>
              </a:solidFill>
            </a:endParaRPr>
          </a:p>
          <a:p>
            <a:pPr indent="0" lvl="0" marL="0" rtl="0" algn="l">
              <a:lnSpc>
                <a:spcPct val="115000"/>
              </a:lnSpc>
              <a:spcBef>
                <a:spcPts val="1200"/>
              </a:spcBef>
              <a:spcAft>
                <a:spcPts val="1200"/>
              </a:spcAft>
              <a:buNone/>
            </a:pPr>
            <a:r>
              <a:rPr lang="en-US" sz="1100">
                <a:solidFill>
                  <a:schemeClr val="dk1"/>
                </a:solidFill>
              </a:rPr>
              <a:t>Once the measurement is complete, keep the placed blocks visible so the child can see the measured length.</a:t>
            </a:r>
            <a:endParaRPr sz="1100">
              <a:solidFill>
                <a:schemeClr val="dk1"/>
              </a:solidFill>
            </a:endParaRPr>
          </a:p>
        </p:txBody>
      </p:sp>
      <p:sp>
        <p:nvSpPr>
          <p:cNvPr id="207" name="Google Shape;207;h17ada4ddaaa32a3c_0_0"/>
          <p:cNvSpPr txBox="1"/>
          <p:nvPr/>
        </p:nvSpPr>
        <p:spPr>
          <a:xfrm>
            <a:off x="6018250" y="812550"/>
            <a:ext cx="3000000" cy="59400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dk1"/>
                </a:solidFill>
              </a:rPr>
              <a:t>Step 2: Choose the matching classroom space</a:t>
            </a:r>
            <a:endParaRPr b="1" sz="1300">
              <a:solidFill>
                <a:schemeClr val="dk1"/>
              </a:solidFill>
            </a:endParaRPr>
          </a:p>
          <a:p>
            <a:pPr indent="0" lvl="0" marL="0" rtl="0" algn="l">
              <a:lnSpc>
                <a:spcPct val="115000"/>
              </a:lnSpc>
              <a:spcBef>
                <a:spcPts val="1200"/>
              </a:spcBef>
              <a:spcAft>
                <a:spcPts val="0"/>
              </a:spcAft>
              <a:buNone/>
            </a:pPr>
            <a:r>
              <a:rPr b="1" lang="en-US" sz="1100">
                <a:solidFill>
                  <a:schemeClr val="dk1"/>
                </a:solidFill>
              </a:rPr>
              <a:t>VO2:</a:t>
            </a:r>
            <a:r>
              <a:rPr lang="en-US" sz="1100">
                <a:solidFill>
                  <a:schemeClr val="dk1"/>
                </a:solidFill>
              </a:rPr>
              <a:t> अब बेंच के लिए सही जगह चुनिए।</a:t>
            </a:r>
            <a:endParaRPr sz="1100">
              <a:solidFill>
                <a:schemeClr val="dk1"/>
              </a:solidFill>
            </a:endParaRPr>
          </a:p>
          <a:p>
            <a:pPr indent="0" lvl="0" marL="0" rtl="0" algn="l">
              <a:lnSpc>
                <a:spcPct val="115000"/>
              </a:lnSpc>
              <a:spcBef>
                <a:spcPts val="1200"/>
              </a:spcBef>
              <a:spcAft>
                <a:spcPts val="0"/>
              </a:spcAft>
              <a:buNone/>
            </a:pPr>
            <a:r>
              <a:rPr i="1" lang="en-US" sz="1100">
                <a:solidFill>
                  <a:schemeClr val="dk1"/>
                </a:solidFill>
              </a:rPr>
              <a:t>[Bring the classroom back into view and activate the four placement spaces. Keep the measured bench visible, along with its blocks.]</a:t>
            </a:r>
            <a:endParaRPr i="1"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Child Action:</a:t>
            </a:r>
            <a:r>
              <a:rPr lang="en-US" sz="1100">
                <a:solidFill>
                  <a:schemeClr val="dk1"/>
                </a:solidFill>
              </a:rPr>
              <a:t> The child compares the bench's measurement with the measurements displayed in the classroom and drags the bench into the matching space.</a:t>
            </a:r>
            <a:endParaRPr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Correct Response:</a:t>
            </a:r>
            <a:endParaRPr b="1" sz="1100">
              <a:solidFill>
                <a:schemeClr val="dk1"/>
              </a:solidFill>
            </a:endParaRPr>
          </a:p>
          <a:p>
            <a:pPr indent="0" lvl="0" marL="0" rtl="0" algn="l">
              <a:lnSpc>
                <a:spcPct val="115000"/>
              </a:lnSpc>
              <a:spcBef>
                <a:spcPts val="1200"/>
              </a:spcBef>
              <a:spcAft>
                <a:spcPts val="0"/>
              </a:spcAft>
              <a:buNone/>
            </a:pPr>
            <a:r>
              <a:rPr i="1" lang="en-US" sz="1100">
                <a:solidFill>
                  <a:schemeClr val="dk1"/>
                </a:solidFill>
              </a:rPr>
              <a:t>[Snap the bench into the matching classroom space and play the correct-response SFX. The bench remains permanently placed in the classroom.]</a:t>
            </a:r>
            <a:endParaRPr i="1" sz="1100">
              <a:solidFill>
                <a:schemeClr val="dk1"/>
              </a:solidFill>
            </a:endParaRPr>
          </a:p>
          <a:p>
            <a:pPr indent="0" lvl="0" marL="0" rtl="0" algn="l">
              <a:lnSpc>
                <a:spcPct val="115000"/>
              </a:lnSpc>
              <a:spcBef>
                <a:spcPts val="1200"/>
              </a:spcBef>
              <a:spcAft>
                <a:spcPts val="0"/>
              </a:spcAft>
              <a:buNone/>
            </a:pPr>
            <a:r>
              <a:rPr b="1" lang="en-US" sz="1100">
                <a:solidFill>
                  <a:schemeClr val="dk1"/>
                </a:solidFill>
              </a:rPr>
              <a:t>Incorrect Response:</a:t>
            </a:r>
            <a:endParaRPr b="1" sz="1100">
              <a:solidFill>
                <a:schemeClr val="dk1"/>
              </a:solidFill>
            </a:endParaRPr>
          </a:p>
          <a:p>
            <a:pPr indent="0" lvl="0" marL="0" rtl="0" algn="l">
              <a:lnSpc>
                <a:spcPct val="115000"/>
              </a:lnSpc>
              <a:spcBef>
                <a:spcPts val="1200"/>
              </a:spcBef>
              <a:spcAft>
                <a:spcPts val="0"/>
              </a:spcAft>
              <a:buNone/>
            </a:pPr>
            <a:r>
              <a:rPr i="1" lang="en-US" sz="1100">
                <a:solidFill>
                  <a:schemeClr val="dk1"/>
                </a:solidFill>
              </a:rPr>
              <a:t>[Return the bench to the measurement area. Allow the child to reconsider the measurement and try another space independently.]</a:t>
            </a:r>
            <a:endParaRPr i="1"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
        <p:nvSpPr>
          <p:cNvPr id="208" name="Google Shape;208;h17ada4ddaaa32a3c_0_0"/>
          <p:cNvSpPr txBox="1"/>
          <p:nvPr/>
        </p:nvSpPr>
        <p:spPr>
          <a:xfrm>
            <a:off x="9018250" y="812550"/>
            <a:ext cx="3000000" cy="55068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US" sz="1300">
                <a:solidFill>
                  <a:schemeClr val="dk1"/>
                </a:solidFill>
              </a:rPr>
              <a:t>Step 3: Continue with the remaining objects</a:t>
            </a:r>
            <a:endParaRPr b="1" sz="1300">
              <a:solidFill>
                <a:schemeClr val="dk1"/>
              </a:solidFill>
            </a:endParaRPr>
          </a:p>
          <a:p>
            <a:pPr indent="0" lvl="0" marL="0" rtl="0" algn="l">
              <a:lnSpc>
                <a:spcPct val="115000"/>
              </a:lnSpc>
              <a:spcBef>
                <a:spcPts val="1200"/>
              </a:spcBef>
              <a:spcAft>
                <a:spcPts val="0"/>
              </a:spcAft>
              <a:buNone/>
            </a:pPr>
            <a:r>
              <a:rPr lang="en-US" sz="1100">
                <a:solidFill>
                  <a:schemeClr val="dk1"/>
                </a:solidFill>
              </a:rPr>
              <a:t>Once an object is correctly placed, the remaining objects stay visible in the bottom tray. The child selects another object and repeats the same process. Continue until all four objects are correctly placed.</a:t>
            </a:r>
            <a:endParaRPr sz="1100">
              <a:solidFill>
                <a:schemeClr val="dk1"/>
              </a:solidFill>
            </a:endParaRPr>
          </a:p>
          <a:p>
            <a:pPr indent="0" lvl="0" marL="0" rtl="0" algn="l">
              <a:lnSpc>
                <a:spcPct val="100000"/>
              </a:lnSpc>
              <a:spcBef>
                <a:spcPts val="1400"/>
              </a:spcBef>
              <a:spcAft>
                <a:spcPts val="0"/>
              </a:spcAft>
              <a:buNone/>
            </a:pPr>
            <a:r>
              <a:rPr b="1" lang="en-US" sz="1300">
                <a:solidFill>
                  <a:schemeClr val="dk1"/>
                </a:solidFill>
              </a:rPr>
              <a:t>Object-Specific VOs</a:t>
            </a:r>
            <a:endParaRPr b="1" sz="1300">
              <a:solidFill>
                <a:schemeClr val="dk1"/>
              </a:solidFill>
            </a:endParaRPr>
          </a:p>
          <a:p>
            <a:pPr indent="0" lvl="0" marL="0" rtl="0" algn="l">
              <a:lnSpc>
                <a:spcPct val="100000"/>
              </a:lnSpc>
              <a:spcBef>
                <a:spcPts val="400"/>
              </a:spcBef>
              <a:spcAft>
                <a:spcPts val="0"/>
              </a:spcAft>
              <a:buNone/>
            </a:pPr>
            <a:r>
              <a:rPr b="1" lang="en-US" sz="1100">
                <a:solidFill>
                  <a:schemeClr val="dk1"/>
                </a:solidFill>
              </a:rPr>
              <a:t>बेंच</a:t>
            </a:r>
            <a:endParaRPr b="1"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VO1: बेंच को ब्लॉक से मापिए।</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VO2: अब बेंच के लिए सही जगह चुनिए।</a:t>
            </a:r>
            <a:endParaRPr sz="1100">
              <a:solidFill>
                <a:schemeClr val="dk1"/>
              </a:solidFill>
            </a:endParaRPr>
          </a:p>
          <a:p>
            <a:pPr indent="0" lvl="0" marL="0" rtl="0" algn="l">
              <a:lnSpc>
                <a:spcPct val="100000"/>
              </a:lnSpc>
              <a:spcBef>
                <a:spcPts val="0"/>
              </a:spcBef>
              <a:spcAft>
                <a:spcPts val="0"/>
              </a:spcAft>
              <a:buNone/>
            </a:pPr>
            <a:r>
              <a:rPr b="1" lang="en-US" sz="1100">
                <a:solidFill>
                  <a:schemeClr val="dk1"/>
                </a:solidFill>
              </a:rPr>
              <a:t>अलमारी</a:t>
            </a:r>
            <a:endParaRPr b="1"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VO1: अलमारी को ब्लॉक से मापिए।</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VO2: अब अलमारी के लिए सही जगह चुनिए।</a:t>
            </a:r>
            <a:endParaRPr sz="1100">
              <a:solidFill>
                <a:schemeClr val="dk1"/>
              </a:solidFill>
            </a:endParaRPr>
          </a:p>
          <a:p>
            <a:pPr indent="0" lvl="0" marL="0" rtl="0" algn="l">
              <a:lnSpc>
                <a:spcPct val="100000"/>
              </a:lnSpc>
              <a:spcBef>
                <a:spcPts val="0"/>
              </a:spcBef>
              <a:spcAft>
                <a:spcPts val="0"/>
              </a:spcAft>
              <a:buNone/>
            </a:pPr>
            <a:r>
              <a:rPr b="1" lang="en-US" sz="1100">
                <a:solidFill>
                  <a:schemeClr val="dk1"/>
                </a:solidFill>
              </a:rPr>
              <a:t>कुर्सी</a:t>
            </a:r>
            <a:endParaRPr b="1"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VO1: कुर्सी को ब्लॉक से मापिए।</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VO2: अब कुर्सी के लिए सही जगह चुनिए।</a:t>
            </a:r>
            <a:endParaRPr sz="1100">
              <a:solidFill>
                <a:schemeClr val="dk1"/>
              </a:solidFill>
            </a:endParaRPr>
          </a:p>
          <a:p>
            <a:pPr indent="0" lvl="0" marL="0" rtl="0" algn="l">
              <a:lnSpc>
                <a:spcPct val="100000"/>
              </a:lnSpc>
              <a:spcBef>
                <a:spcPts val="0"/>
              </a:spcBef>
              <a:spcAft>
                <a:spcPts val="0"/>
              </a:spcAft>
              <a:buNone/>
            </a:pPr>
            <a:r>
              <a:rPr b="1" lang="en-US" sz="1100">
                <a:solidFill>
                  <a:schemeClr val="dk1"/>
                </a:solidFill>
              </a:rPr>
              <a:t>ब्लैकबोर्ड</a:t>
            </a:r>
            <a:endParaRPr b="1"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VO1: ब्लैकबोर्ड को ब्लॉक से मापिए।</a:t>
            </a:r>
            <a:endParaRPr sz="1100">
              <a:solidFill>
                <a:schemeClr val="dk1"/>
              </a:solidFill>
            </a:endParaRPr>
          </a:p>
          <a:p>
            <a:pPr indent="-298450" lvl="0" marL="457200" rtl="0" algn="l">
              <a:lnSpc>
                <a:spcPct val="100000"/>
              </a:lnSpc>
              <a:spcBef>
                <a:spcPts val="0"/>
              </a:spcBef>
              <a:spcAft>
                <a:spcPts val="0"/>
              </a:spcAft>
              <a:buClr>
                <a:schemeClr val="dk1"/>
              </a:buClr>
              <a:buSzPts val="1100"/>
              <a:buChar char="●"/>
            </a:pPr>
            <a:r>
              <a:rPr lang="en-US" sz="1100">
                <a:solidFill>
                  <a:schemeClr val="dk1"/>
                </a:solidFill>
              </a:rPr>
              <a:t>VO2: अब ब्लैकबोर्ड के लिए सही जगह चुनिए।</a:t>
            </a:r>
            <a:endParaRPr sz="1100">
              <a:solidFill>
                <a:schemeClr val="dk1"/>
              </a:solidFill>
            </a:endParaRPr>
          </a:p>
          <a:p>
            <a:pPr indent="0" lvl="0" marL="0" rtl="0" algn="l">
              <a:lnSpc>
                <a:spcPct val="115000"/>
              </a:lnSpc>
              <a:spcBef>
                <a:spcPts val="1400"/>
              </a:spcBef>
              <a:spcAft>
                <a:spcPts val="400"/>
              </a:spcAft>
              <a:buNone/>
            </a:pPr>
            <a:r>
              <a:rPr b="1" lang="en-US" sz="1100">
                <a:solidFill>
                  <a:schemeClr val="dk1"/>
                </a:solidFill>
              </a:rPr>
              <a:t>Game Completion: </a:t>
            </a:r>
            <a:r>
              <a:rPr i="1" lang="en-US" sz="1100">
                <a:solidFill>
                  <a:schemeClr val="dk1"/>
                </a:solidFill>
              </a:rPr>
              <a:t>[Once all four objects are correctly placed, show the fully arranged classroom and play a celebration animation with SFX.]</a:t>
            </a:r>
            <a:endParaRPr sz="1100">
              <a:solidFill>
                <a:schemeClr val="dk1"/>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2" name="Shape 212"/>
        <p:cNvGrpSpPr/>
        <p:nvPr/>
      </p:nvGrpSpPr>
      <p:grpSpPr>
        <a:xfrm>
          <a:off x="0" y="0"/>
          <a:ext cx="0" cy="0"/>
          <a:chOff x="0" y="0"/>
          <a:chExt cx="0" cy="0"/>
        </a:xfrm>
      </p:grpSpPr>
      <p:sp>
        <p:nvSpPr>
          <p:cNvPr id="213" name="Google Shape;213;p17"/>
          <p:cNvSpPr txBox="1"/>
          <p:nvPr/>
        </p:nvSpPr>
        <p:spPr>
          <a:xfrm>
            <a:off x="365760" y="137160"/>
            <a:ext cx="7680960" cy="54864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400">
                <a:solidFill>
                  <a:srgbClr val="0B3D8C"/>
                </a:solidFill>
                <a:latin typeface="Calibri"/>
                <a:ea typeface="Calibri"/>
                <a:cs typeface="Calibri"/>
                <a:sym typeface="Calibri"/>
              </a:rPr>
              <a:t>Page 14 · 14_CELEBRATION.png</a:t>
            </a:r>
            <a:endParaRPr/>
          </a:p>
        </p:txBody>
      </p:sp>
      <p:pic>
        <p:nvPicPr>
          <p:cNvPr descr="14_CELEBRATION.png" id="214" name="Google Shape;214;p17"/>
          <p:cNvPicPr preferRelativeResize="0"/>
          <p:nvPr/>
        </p:nvPicPr>
        <p:blipFill rotWithShape="1">
          <a:blip r:embed="rId3">
            <a:alphaModFix/>
          </a:blip>
          <a:srcRect b="0" l="0" r="0" t="0"/>
          <a:stretch/>
        </p:blipFill>
        <p:spPr>
          <a:xfrm>
            <a:off x="365760" y="731520"/>
            <a:ext cx="7680960" cy="4298571"/>
          </a:xfrm>
          <a:prstGeom prst="rect">
            <a:avLst/>
          </a:prstGeom>
          <a:noFill/>
          <a:ln>
            <a:noFill/>
          </a:ln>
        </p:spPr>
      </p:pic>
      <p:sp>
        <p:nvSpPr>
          <p:cNvPr id="215" name="Google Shape;215;p17"/>
          <p:cNvSpPr txBox="1"/>
          <p:nvPr/>
        </p:nvSpPr>
        <p:spPr>
          <a:xfrm>
            <a:off x="8229600" y="731520"/>
            <a:ext cx="3596335" cy="96949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1600">
                <a:solidFill>
                  <a:srgbClr val="0B3D8C"/>
                </a:solidFill>
                <a:latin typeface="Calibri"/>
                <a:ea typeface="Calibri"/>
                <a:cs typeface="Calibri"/>
                <a:sym typeface="Calibri"/>
              </a:rPr>
              <a:t>Recommendations</a:t>
            </a:r>
            <a:endParaRPr/>
          </a:p>
          <a:p>
            <a:pPr indent="0" lvl="0" marL="0" marR="0" rtl="0" algn="l">
              <a:spcBef>
                <a:spcPts val="0"/>
              </a:spcBef>
              <a:spcAft>
                <a:spcPts val="0"/>
              </a:spcAft>
              <a:buNone/>
            </a:pPr>
            <a:r>
              <a:rPr lang="en-US" sz="1300">
                <a:solidFill>
                  <a:srgbClr val="1B2A44"/>
                </a:solidFill>
                <a:latin typeface="Calibri"/>
                <a:ea typeface="Calibri"/>
                <a:cs typeface="Calibri"/>
                <a:sym typeface="Calibri"/>
              </a:rPr>
              <a:t>Remove the text and play only the VO: </a:t>
            </a:r>
            <a:endParaRPr/>
          </a:p>
          <a:p>
            <a:pPr indent="0" lvl="0" marL="0" marR="0" rtl="0" algn="l">
              <a:spcBef>
                <a:spcPts val="0"/>
              </a:spcBef>
              <a:spcAft>
                <a:spcPts val="0"/>
              </a:spcAft>
              <a:buNone/>
            </a:pPr>
            <a:r>
              <a:rPr b="1" lang="en-US" sz="1300">
                <a:solidFill>
                  <a:schemeClr val="dk1"/>
                </a:solidFill>
                <a:latin typeface="Noto Sans Devanagari"/>
                <a:ea typeface="Noto Sans Devanagari"/>
                <a:cs typeface="Noto Sans Devanagari"/>
                <a:sym typeface="Noto Sans Devanagari"/>
              </a:rPr>
              <a:t>शाबाश! आपने </a:t>
            </a:r>
            <a:r>
              <a:rPr b="1" lang="en-US" sz="1400">
                <a:solidFill>
                  <a:schemeClr val="dk1"/>
                </a:solidFill>
                <a:latin typeface="Noto Sans Devanagari"/>
                <a:ea typeface="Noto Sans Devanagari"/>
                <a:cs typeface="Noto Sans Devanagari"/>
                <a:sym typeface="Noto Sans Devanagari"/>
              </a:rPr>
              <a:t>ब्लॉक्स से लंबाई मापना सीख लिया!</a:t>
            </a:r>
            <a:endParaRPr b="1" sz="1300">
              <a:solidFill>
                <a:schemeClr val="dk1"/>
              </a:solidFill>
              <a:latin typeface="Noto Sans Devanagari"/>
              <a:ea typeface="Noto Sans Devanagari"/>
              <a:cs typeface="Noto Sans Devanagari"/>
              <a:sym typeface="Noto Sans Devanaga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cp:coreProperties>
</file>